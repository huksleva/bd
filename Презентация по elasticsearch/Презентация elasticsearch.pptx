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7"/>
    <p:restoredTop sz="94679"/>
  </p:normalViewPr>
  <p:slideViewPr>
    <p:cSldViewPr snapToGrid="0">
      <p:cViewPr varScale="1">
        <p:scale>
          <a:sx n="112" d="100"/>
          <a:sy n="112" d="100"/>
        </p:scale>
        <p:origin x="6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013060C-8B4D-4462-A8B8-419C420CB6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E1CC2F8-C3CB-4DBA-8CA2-A3EA336794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35D2681-249E-45E7-9385-CF86FBC155E6}"/>
              </a:ext>
            </a:extLst>
          </p:cNvPr>
          <p:cNvSpPr>
            <a:spLocks noGrp="1"/>
          </p:cNvSpPr>
          <p:nvPr/>
        </p:nvSpPr>
        <p:spPr>
          <a:xfrm>
            <a:off x="7239000" y="0"/>
            <a:ext cx="4953000" cy="6858000"/>
          </a:xfrm>
          <a:prstGeom prst="rect">
            <a:avLst/>
          </a:prstGeom>
          <a:solidFill>
            <a:srgbClr val="F2E7D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1-marker">
            <a:extLst>
              <a:ext uri="{FF2B5EF4-FFF2-40B4-BE49-F238E27FC236}">
                <a16:creationId xmlns:a16="http://schemas.microsoft.com/office/drawing/2014/main" id="{B1D45D35-3C84-4C08-8ECC-08DD879B566C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95250" cy="952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1-label">
            <a:extLst>
              <a:ext uri="{FF2B5EF4-FFF2-40B4-BE49-F238E27FC236}">
                <a16:creationId xmlns:a16="http://schemas.microsoft.com/office/drawing/2014/main" id="{1E8C1A49-AC26-40C9-B939-49A676BBADDA}"/>
              </a:ext>
            </a:extLst>
          </p:cNvPr>
          <p:cNvSpPr>
            <a:spLocks noGrp="1"/>
          </p:cNvSpPr>
          <p:nvPr/>
        </p:nvSpPr>
        <p:spPr>
          <a:xfrm>
            <a:off x="762000" y="4191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MOVIESEARCH / 30 МИНУТ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52A80F2-69C2-4547-A39B-22198714F5AA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6191250" cy="1466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4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Обычный поиск против Elasticsearch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DFE54E0-A8A8-45D4-9667-680B950FF880}"/>
              </a:ext>
            </a:extLst>
          </p:cNvPr>
          <p:cNvSpPr>
            <a:spLocks noGrp="1"/>
          </p:cNvSpPr>
          <p:nvPr/>
        </p:nvSpPr>
        <p:spPr>
          <a:xfrm>
            <a:off x="590550" y="2781300"/>
            <a:ext cx="56197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На примере Spring Boot приложения поиска фильмов: от SQL LIKE к индексу, analyzer и relevance scoring.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D0123C7-ACE4-4849-98E8-0D4471E52447}"/>
              </a:ext>
            </a:extLst>
          </p:cNvPr>
          <p:cNvSpPr>
            <a:spLocks noGrp="1"/>
          </p:cNvSpPr>
          <p:nvPr/>
        </p:nvSpPr>
        <p:spPr>
          <a:xfrm>
            <a:off x="590550" y="3733800"/>
            <a:ext cx="5810250" cy="9525"/>
          </a:xfrm>
          <a:prstGeom prst="rect">
            <a:avLst/>
          </a:prstGeom>
          <a:solidFill>
            <a:srgbClr val="3741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D8E4B35-D280-4E84-AFE7-104F8AFF473F}"/>
              </a:ext>
            </a:extLst>
          </p:cNvPr>
          <p:cNvSpPr>
            <a:spLocks noGrp="1"/>
          </p:cNvSpPr>
          <p:nvPr/>
        </p:nvSpPr>
        <p:spPr>
          <a:xfrm>
            <a:off x="590550" y="4171950"/>
            <a:ext cx="1809750" cy="323850"/>
          </a:xfrm>
          <a:prstGeom prst="rect">
            <a:avLst/>
          </a:prstGeom>
          <a:solidFill>
            <a:srgbClr val="DBEAF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9839688-9C69-48DC-AF2F-20FA84BB11FF}"/>
              </a:ext>
            </a:extLst>
          </p:cNvPr>
          <p:cNvSpPr>
            <a:spLocks noGrp="1"/>
          </p:cNvSpPr>
          <p:nvPr/>
        </p:nvSpPr>
        <p:spPr>
          <a:xfrm>
            <a:off x="704850" y="4248150"/>
            <a:ext cx="15811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SQL LIKE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E3A899D-9D30-4FA5-8770-2FF97C6C39C3}"/>
              </a:ext>
            </a:extLst>
          </p:cNvPr>
          <p:cNvSpPr>
            <a:spLocks noGrp="1"/>
          </p:cNvSpPr>
          <p:nvPr/>
        </p:nvSpPr>
        <p:spPr>
          <a:xfrm>
            <a:off x="2628900" y="4229100"/>
            <a:ext cx="266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фильтр по строкам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EDF4BB2-E02B-435F-8D28-90ACCF64ED23}"/>
              </a:ext>
            </a:extLst>
          </p:cNvPr>
          <p:cNvSpPr>
            <a:spLocks noGrp="1"/>
          </p:cNvSpPr>
          <p:nvPr/>
        </p:nvSpPr>
        <p:spPr>
          <a:xfrm>
            <a:off x="590550" y="4724400"/>
            <a:ext cx="1809750" cy="323850"/>
          </a:xfrm>
          <a:prstGeom prst="rect">
            <a:avLst/>
          </a:prstGeom>
          <a:solidFill>
            <a:srgbClr val="CCFB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8C47E57-38A6-4A0A-82B5-E9C332C25D50}"/>
              </a:ext>
            </a:extLst>
          </p:cNvPr>
          <p:cNvSpPr>
            <a:spLocks noGrp="1"/>
          </p:cNvSpPr>
          <p:nvPr/>
        </p:nvSpPr>
        <p:spPr>
          <a:xfrm>
            <a:off x="704850" y="4800600"/>
            <a:ext cx="15811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Elasticsearch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D450A6F-991A-4F15-871A-2A948DF3C741}"/>
              </a:ext>
            </a:extLst>
          </p:cNvPr>
          <p:cNvSpPr>
            <a:spLocks noGrp="1"/>
          </p:cNvSpPr>
          <p:nvPr/>
        </p:nvSpPr>
        <p:spPr>
          <a:xfrm>
            <a:off x="2628900" y="4781550"/>
            <a:ext cx="266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поисковый индекс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E776251-B55C-449F-9E76-589DCA46F14E}"/>
              </a:ext>
            </a:extLst>
          </p:cNvPr>
          <p:cNvSpPr>
            <a:spLocks noGrp="1"/>
          </p:cNvSpPr>
          <p:nvPr/>
        </p:nvSpPr>
        <p:spPr>
          <a:xfrm>
            <a:off x="590550" y="5276850"/>
            <a:ext cx="1809750" cy="323850"/>
          </a:xfrm>
          <a:prstGeom prst="rect">
            <a:avLst/>
          </a:prstGeom>
          <a:solidFill>
            <a:srgbClr val="FEF3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C26AE8B-9201-4E6D-A3DD-04070182F9AC}"/>
              </a:ext>
            </a:extLst>
          </p:cNvPr>
          <p:cNvSpPr>
            <a:spLocks noGrp="1"/>
          </p:cNvSpPr>
          <p:nvPr/>
        </p:nvSpPr>
        <p:spPr>
          <a:xfrm>
            <a:off x="704850" y="5353050"/>
            <a:ext cx="158115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92400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92400E"/>
                </a:solidFill>
                <a:latin typeface="Aptos"/>
                <a:ea typeface="Aptos"/>
                <a:cs typeface="Aptos"/>
              </a:rPr>
              <a:t>Итог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BCFF8C99-4595-4E4F-9E72-C2D21237899B}"/>
              </a:ext>
            </a:extLst>
          </p:cNvPr>
          <p:cNvSpPr>
            <a:spLocks noGrp="1"/>
          </p:cNvSpPr>
          <p:nvPr/>
        </p:nvSpPr>
        <p:spPr>
          <a:xfrm>
            <a:off x="2628900" y="5334000"/>
            <a:ext cx="266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когда что выбирать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28CB7BE-8868-450C-BDA6-B4E0D7413DEA}"/>
              </a:ext>
            </a:extLst>
          </p:cNvPr>
          <p:cNvSpPr>
            <a:spLocks noGrp="1"/>
          </p:cNvSpPr>
          <p:nvPr/>
        </p:nvSpPr>
        <p:spPr>
          <a:xfrm>
            <a:off x="7829550" y="1581150"/>
            <a:ext cx="3048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find the row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1939A61-07B8-48EB-ABB0-59A9E96517DA}"/>
              </a:ext>
            </a:extLst>
          </p:cNvPr>
          <p:cNvSpPr>
            <a:spLocks noGrp="1"/>
          </p:cNvSpPr>
          <p:nvPr/>
        </p:nvSpPr>
        <p:spPr>
          <a:xfrm>
            <a:off x="8820150" y="2533650"/>
            <a:ext cx="762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6B7280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6B7280"/>
                </a:solidFill>
                <a:latin typeface="Aptos Display"/>
                <a:ea typeface="Aptos Display"/>
                <a:cs typeface="Aptos Display"/>
              </a:rPr>
              <a:t>vs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718F07A0-A32C-418C-A41D-5AEBE3F96928}"/>
              </a:ext>
            </a:extLst>
          </p:cNvPr>
          <p:cNvSpPr>
            <a:spLocks noGrp="1"/>
          </p:cNvSpPr>
          <p:nvPr/>
        </p:nvSpPr>
        <p:spPr>
          <a:xfrm>
            <a:off x="7829550" y="3429000"/>
            <a:ext cx="3238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rank the answer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80D1A0B-CB09-498A-84AC-C9BB1BA34B47}"/>
              </a:ext>
            </a:extLst>
          </p:cNvPr>
          <p:cNvSpPr>
            <a:spLocks noGrp="1"/>
          </p:cNvSpPr>
          <p:nvPr/>
        </p:nvSpPr>
        <p:spPr>
          <a:xfrm>
            <a:off x="7810500" y="2324100"/>
            <a:ext cx="3238500" cy="9525"/>
          </a:xfrm>
          <a:prstGeom prst="rect">
            <a:avLst/>
          </a:prstGeom>
          <a:solidFill>
            <a:srgbClr val="D8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6F478B74-4D12-4BBB-A4A1-FE40BA3439D0}"/>
              </a:ext>
            </a:extLst>
          </p:cNvPr>
          <p:cNvSpPr>
            <a:spLocks noGrp="1"/>
          </p:cNvSpPr>
          <p:nvPr/>
        </p:nvSpPr>
        <p:spPr>
          <a:xfrm>
            <a:off x="7810500" y="3181350"/>
            <a:ext cx="3238500" cy="9525"/>
          </a:xfrm>
          <a:prstGeom prst="rect">
            <a:avLst/>
          </a:prstGeom>
          <a:solidFill>
            <a:srgbClr val="D8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257863DE-16A9-4ED8-A0A9-83FDD607654E}"/>
              </a:ext>
            </a:extLst>
          </p:cNvPr>
          <p:cNvSpPr>
            <a:spLocks noGrp="1"/>
          </p:cNvSpPr>
          <p:nvPr/>
        </p:nvSpPr>
        <p:spPr>
          <a:xfrm>
            <a:off x="7829550" y="4476750"/>
            <a:ext cx="31432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Главная разница не в синтаксисе запроса, а в модели мышления: база данных ищет совпадения, поисковый движок строит релевантность.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AEB303D6-7495-452F-9FDC-A45204A0ADF5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8678EB61-20D9-45F2-BC91-6B940720F315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9144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8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58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Тема: сравнение обычного поиска и Elasticsearch на локальном MovieSearch проекте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66D4D2D3-0329-459C-8043-91EE752CDC8D}"/>
              </a:ext>
            </a:extLst>
          </p:cNvPr>
          <p:cNvSpPr>
            <a:spLocks noGrp="1"/>
          </p:cNvSpPr>
          <p:nvPr/>
        </p:nvSpPr>
        <p:spPr>
          <a:xfrm>
            <a:off x="11201400" y="65151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B7280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B7280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9691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C8A81A80-F7C2-4BD1-955F-B26A2D25A2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2-marker">
            <a:extLst>
              <a:ext uri="{FF2B5EF4-FFF2-40B4-BE49-F238E27FC236}">
                <a16:creationId xmlns:a16="http://schemas.microsoft.com/office/drawing/2014/main" id="{86AB6201-5E69-4F18-BA98-DF30778721F6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95250" cy="952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label">
            <a:extLst>
              <a:ext uri="{FF2B5EF4-FFF2-40B4-BE49-F238E27FC236}">
                <a16:creationId xmlns:a16="http://schemas.microsoft.com/office/drawing/2014/main" id="{9C8F8EAB-9326-4F92-8E0A-6A4DAF45EE27}"/>
              </a:ext>
            </a:extLst>
          </p:cNvPr>
          <p:cNvSpPr>
            <a:spLocks noGrp="1"/>
          </p:cNvSpPr>
          <p:nvPr/>
        </p:nvSpPr>
        <p:spPr>
          <a:xfrm>
            <a:off x="762000" y="4191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МАРШРУТ РАССКАЗА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54932B8-415E-478F-B3D4-A1DCCE7C5C87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82867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30 минут достаточно, если идти от поведения к архитектуре.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4B3677C-E1FC-409D-BA31-93981B0A2518}"/>
              </a:ext>
            </a:extLst>
          </p:cNvPr>
          <p:cNvSpPr>
            <a:spLocks noGrp="1"/>
          </p:cNvSpPr>
          <p:nvPr/>
        </p:nvSpPr>
        <p:spPr>
          <a:xfrm>
            <a:off x="571500" y="1638300"/>
            <a:ext cx="781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Не начинаем с терминов Elasticsearch. Сначала фиксируем, чего хочет пользователь поиска, потом смотрим, как это выражено в коде.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B0331D3-7685-4C6B-9700-FF77A9C0FF2D}"/>
              </a:ext>
            </a:extLst>
          </p:cNvPr>
          <p:cNvSpPr>
            <a:spLocks noGrp="1"/>
          </p:cNvSpPr>
          <p:nvPr/>
        </p:nvSpPr>
        <p:spPr>
          <a:xfrm>
            <a:off x="1143000" y="3486150"/>
            <a:ext cx="1390650" cy="19050"/>
          </a:xfrm>
          <a:prstGeom prst="rect">
            <a:avLst/>
          </a:prstGeom>
          <a:solidFill>
            <a:srgbClr val="D8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D201EAF-5F4F-48F2-B373-74EF0E7026C9}"/>
              </a:ext>
            </a:extLst>
          </p:cNvPr>
          <p:cNvSpPr>
            <a:spLocks noGrp="1"/>
          </p:cNvSpPr>
          <p:nvPr/>
        </p:nvSpPr>
        <p:spPr>
          <a:xfrm>
            <a:off x="742950" y="3105150"/>
            <a:ext cx="800100" cy="800100"/>
          </a:xfrm>
          <a:prstGeom prst="rect">
            <a:avLst/>
          </a:prstGeom>
          <a:solidFill>
            <a:srgbClr val="DBEAFE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6CC27FE-D5F0-4914-BC8A-D94263CC59F0}"/>
              </a:ext>
            </a:extLst>
          </p:cNvPr>
          <p:cNvSpPr>
            <a:spLocks noGrp="1"/>
          </p:cNvSpPr>
          <p:nvPr/>
        </p:nvSpPr>
        <p:spPr>
          <a:xfrm>
            <a:off x="857250" y="3305175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0-4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422AA35-C075-4B5B-9D95-0BEAB556B75B}"/>
              </a:ext>
            </a:extLst>
          </p:cNvPr>
          <p:cNvSpPr>
            <a:spLocks noGrp="1"/>
          </p:cNvSpPr>
          <p:nvPr/>
        </p:nvSpPr>
        <p:spPr>
          <a:xfrm>
            <a:off x="857250" y="3562350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мин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1EE7EE9-F5F2-47C1-A835-4DC43CEDB2BB}"/>
              </a:ext>
            </a:extLst>
          </p:cNvPr>
          <p:cNvSpPr>
            <a:spLocks noGrp="1"/>
          </p:cNvSpPr>
          <p:nvPr/>
        </p:nvSpPr>
        <p:spPr>
          <a:xfrm>
            <a:off x="647700" y="4191000"/>
            <a:ext cx="1162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Контекст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7653A73-B097-4A50-97E6-493522A9CB7B}"/>
              </a:ext>
            </a:extLst>
          </p:cNvPr>
          <p:cNvSpPr>
            <a:spLocks noGrp="1"/>
          </p:cNvSpPr>
          <p:nvPr/>
        </p:nvSpPr>
        <p:spPr>
          <a:xfrm>
            <a:off x="323850" y="4495800"/>
            <a:ext cx="1809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что ищем и почему LIKE кажется достаточным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D806E6D-A216-4DDB-BBE3-5749E4EDE195}"/>
              </a:ext>
            </a:extLst>
          </p:cNvPr>
          <p:cNvSpPr>
            <a:spLocks noGrp="1"/>
          </p:cNvSpPr>
          <p:nvPr/>
        </p:nvSpPr>
        <p:spPr>
          <a:xfrm>
            <a:off x="3333750" y="3486150"/>
            <a:ext cx="1390650" cy="19050"/>
          </a:xfrm>
          <a:prstGeom prst="rect">
            <a:avLst/>
          </a:prstGeom>
          <a:solidFill>
            <a:srgbClr val="D8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3E26760-4049-47F5-858B-1FAF4CB18B4C}"/>
              </a:ext>
            </a:extLst>
          </p:cNvPr>
          <p:cNvSpPr>
            <a:spLocks noGrp="1"/>
          </p:cNvSpPr>
          <p:nvPr/>
        </p:nvSpPr>
        <p:spPr>
          <a:xfrm>
            <a:off x="2933700" y="3105150"/>
            <a:ext cx="800100" cy="800100"/>
          </a:xfrm>
          <a:prstGeom prst="rect">
            <a:avLst/>
          </a:prstGeom>
          <a:solidFill>
            <a:srgbClr val="DBEAFE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2EA03CC-9A59-417B-9315-98142BF34DDB}"/>
              </a:ext>
            </a:extLst>
          </p:cNvPr>
          <p:cNvSpPr>
            <a:spLocks noGrp="1"/>
          </p:cNvSpPr>
          <p:nvPr/>
        </p:nvSpPr>
        <p:spPr>
          <a:xfrm>
            <a:off x="3048000" y="3305175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4-10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3AA4850-2D78-494D-94C0-C5942A8186E8}"/>
              </a:ext>
            </a:extLst>
          </p:cNvPr>
          <p:cNvSpPr>
            <a:spLocks noGrp="1"/>
          </p:cNvSpPr>
          <p:nvPr/>
        </p:nvSpPr>
        <p:spPr>
          <a:xfrm>
            <a:off x="3048000" y="3562350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мин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3179516-8EF4-463D-A9BC-D961E859A593}"/>
              </a:ext>
            </a:extLst>
          </p:cNvPr>
          <p:cNvSpPr>
            <a:spLocks noGrp="1"/>
          </p:cNvSpPr>
          <p:nvPr/>
        </p:nvSpPr>
        <p:spPr>
          <a:xfrm>
            <a:off x="2838450" y="4191000"/>
            <a:ext cx="1162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Simple search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C7CBA4B-63D0-4B29-8B76-973514120534}"/>
              </a:ext>
            </a:extLst>
          </p:cNvPr>
          <p:cNvSpPr>
            <a:spLocks noGrp="1"/>
          </p:cNvSpPr>
          <p:nvPr/>
        </p:nvSpPr>
        <p:spPr>
          <a:xfrm>
            <a:off x="2514600" y="4495800"/>
            <a:ext cx="1809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SQL, фильтрация, сортировка по рейтингу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7DD0DDC0-37A9-41E6-957F-D70BAE151A14}"/>
              </a:ext>
            </a:extLst>
          </p:cNvPr>
          <p:cNvSpPr>
            <a:spLocks noGrp="1"/>
          </p:cNvSpPr>
          <p:nvPr/>
        </p:nvSpPr>
        <p:spPr>
          <a:xfrm>
            <a:off x="5524500" y="3486150"/>
            <a:ext cx="1390650" cy="19050"/>
          </a:xfrm>
          <a:prstGeom prst="rect">
            <a:avLst/>
          </a:prstGeom>
          <a:solidFill>
            <a:srgbClr val="D8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AB862C2F-EEBC-4AFF-AA25-7163C9C0FF4C}"/>
              </a:ext>
            </a:extLst>
          </p:cNvPr>
          <p:cNvSpPr>
            <a:spLocks noGrp="1"/>
          </p:cNvSpPr>
          <p:nvPr/>
        </p:nvSpPr>
        <p:spPr>
          <a:xfrm>
            <a:off x="5124450" y="3105150"/>
            <a:ext cx="800100" cy="800100"/>
          </a:xfrm>
          <a:prstGeom prst="rect">
            <a:avLst/>
          </a:prstGeom>
          <a:solidFill>
            <a:srgbClr val="CCFBF1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4845BAC3-7016-47CF-882E-0AE0FC751979}"/>
              </a:ext>
            </a:extLst>
          </p:cNvPr>
          <p:cNvSpPr>
            <a:spLocks noGrp="1"/>
          </p:cNvSpPr>
          <p:nvPr/>
        </p:nvSpPr>
        <p:spPr>
          <a:xfrm>
            <a:off x="5238750" y="3305175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10-18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5722E755-FC4A-49FD-A924-D22E6DB70312}"/>
              </a:ext>
            </a:extLst>
          </p:cNvPr>
          <p:cNvSpPr>
            <a:spLocks noGrp="1"/>
          </p:cNvSpPr>
          <p:nvPr/>
        </p:nvSpPr>
        <p:spPr>
          <a:xfrm>
            <a:off x="5238750" y="3562350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мин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7E9C738D-073B-44F9-B54E-D9CF2B5E6977}"/>
              </a:ext>
            </a:extLst>
          </p:cNvPr>
          <p:cNvSpPr>
            <a:spLocks noGrp="1"/>
          </p:cNvSpPr>
          <p:nvPr/>
        </p:nvSpPr>
        <p:spPr>
          <a:xfrm>
            <a:off x="5029200" y="4191000"/>
            <a:ext cx="1162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Elasticsearch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94F41E17-27DC-4E8C-A150-6FC6DB725B9E}"/>
              </a:ext>
            </a:extLst>
          </p:cNvPr>
          <p:cNvSpPr>
            <a:spLocks noGrp="1"/>
          </p:cNvSpPr>
          <p:nvPr/>
        </p:nvSpPr>
        <p:spPr>
          <a:xfrm>
            <a:off x="4705350" y="4495800"/>
            <a:ext cx="1809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индекс, analyzer, query DSL, relevance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01517EF8-AFCB-4C3C-8F0D-9E9C4F14D5B7}"/>
              </a:ext>
            </a:extLst>
          </p:cNvPr>
          <p:cNvSpPr>
            <a:spLocks noGrp="1"/>
          </p:cNvSpPr>
          <p:nvPr/>
        </p:nvSpPr>
        <p:spPr>
          <a:xfrm>
            <a:off x="7715250" y="3486150"/>
            <a:ext cx="1390650" cy="19050"/>
          </a:xfrm>
          <a:prstGeom prst="rect">
            <a:avLst/>
          </a:prstGeom>
          <a:solidFill>
            <a:srgbClr val="D8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36F262DD-EF04-4B1C-A85D-68D3EE15FFF7}"/>
              </a:ext>
            </a:extLst>
          </p:cNvPr>
          <p:cNvSpPr>
            <a:spLocks noGrp="1"/>
          </p:cNvSpPr>
          <p:nvPr/>
        </p:nvSpPr>
        <p:spPr>
          <a:xfrm>
            <a:off x="7315200" y="3105150"/>
            <a:ext cx="800100" cy="800100"/>
          </a:xfrm>
          <a:prstGeom prst="rect">
            <a:avLst/>
          </a:prstGeom>
          <a:solidFill>
            <a:srgbClr val="CCFBF1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2F8235F8-F486-44B8-8482-1E9D3E37CBE4}"/>
              </a:ext>
            </a:extLst>
          </p:cNvPr>
          <p:cNvSpPr>
            <a:spLocks noGrp="1"/>
          </p:cNvSpPr>
          <p:nvPr/>
        </p:nvSpPr>
        <p:spPr>
          <a:xfrm>
            <a:off x="7429500" y="3305175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18-25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A8701286-9C8D-4AF0-A68F-EC36AC76A879}"/>
              </a:ext>
            </a:extLst>
          </p:cNvPr>
          <p:cNvSpPr>
            <a:spLocks noGrp="1"/>
          </p:cNvSpPr>
          <p:nvPr/>
        </p:nvSpPr>
        <p:spPr>
          <a:xfrm>
            <a:off x="7429500" y="3562350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мин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587FB667-D712-4A67-9613-D1EBA83FC88B}"/>
              </a:ext>
            </a:extLst>
          </p:cNvPr>
          <p:cNvSpPr>
            <a:spLocks noGrp="1"/>
          </p:cNvSpPr>
          <p:nvPr/>
        </p:nvSpPr>
        <p:spPr>
          <a:xfrm>
            <a:off x="7219950" y="4191000"/>
            <a:ext cx="1162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Сравнение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811DE22-55AB-4E02-99BC-74FEE27A0461}"/>
              </a:ext>
            </a:extLst>
          </p:cNvPr>
          <p:cNvSpPr>
            <a:spLocks noGrp="1"/>
          </p:cNvSpPr>
          <p:nvPr/>
        </p:nvSpPr>
        <p:spPr>
          <a:xfrm>
            <a:off x="6896100" y="4495800"/>
            <a:ext cx="1809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стоимость, качество, эксплуатация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2C0B9C00-F082-4A96-A53E-DDFB5892598D}"/>
              </a:ext>
            </a:extLst>
          </p:cNvPr>
          <p:cNvSpPr>
            <a:spLocks noGrp="1"/>
          </p:cNvSpPr>
          <p:nvPr/>
        </p:nvSpPr>
        <p:spPr>
          <a:xfrm>
            <a:off x="9906000" y="3486150"/>
            <a:ext cx="0" cy="19050"/>
          </a:xfrm>
          <a:prstGeom prst="rect">
            <a:avLst/>
          </a:prstGeom>
          <a:solidFill>
            <a:srgbClr val="D8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EDF0D1A8-64D3-4549-93B6-4E98B7627AFF}"/>
              </a:ext>
            </a:extLst>
          </p:cNvPr>
          <p:cNvSpPr>
            <a:spLocks noGrp="1"/>
          </p:cNvSpPr>
          <p:nvPr/>
        </p:nvSpPr>
        <p:spPr>
          <a:xfrm>
            <a:off x="9505950" y="3105150"/>
            <a:ext cx="800100" cy="800100"/>
          </a:xfrm>
          <a:prstGeom prst="rect">
            <a:avLst/>
          </a:prstGeom>
          <a:solidFill>
            <a:srgbClr val="FEF3C7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F0F910D4-9ADF-44FE-8044-85BF24E1971D}"/>
              </a:ext>
            </a:extLst>
          </p:cNvPr>
          <p:cNvSpPr>
            <a:spLocks noGrp="1"/>
          </p:cNvSpPr>
          <p:nvPr/>
        </p:nvSpPr>
        <p:spPr>
          <a:xfrm>
            <a:off x="9620250" y="3305175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92400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92400E"/>
                </a:solidFill>
                <a:latin typeface="Aptos Display"/>
                <a:ea typeface="Aptos Display"/>
                <a:cs typeface="Aptos Display"/>
              </a:rPr>
              <a:t>25-30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92766F5C-8D95-42A9-B49A-AD4F86FED850}"/>
              </a:ext>
            </a:extLst>
          </p:cNvPr>
          <p:cNvSpPr>
            <a:spLocks noGrp="1"/>
          </p:cNvSpPr>
          <p:nvPr/>
        </p:nvSpPr>
        <p:spPr>
          <a:xfrm>
            <a:off x="9620250" y="3562350"/>
            <a:ext cx="571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мин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A715B116-78D7-4F01-9EF4-EBEC32F417CC}"/>
              </a:ext>
            </a:extLst>
          </p:cNvPr>
          <p:cNvSpPr>
            <a:spLocks noGrp="1"/>
          </p:cNvSpPr>
          <p:nvPr/>
        </p:nvSpPr>
        <p:spPr>
          <a:xfrm>
            <a:off x="9410700" y="4191000"/>
            <a:ext cx="1162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Выбор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CE3C3A1B-C580-4538-878E-7345E4762AF6}"/>
              </a:ext>
            </a:extLst>
          </p:cNvPr>
          <p:cNvSpPr>
            <a:spLocks noGrp="1"/>
          </p:cNvSpPr>
          <p:nvPr/>
        </p:nvSpPr>
        <p:spPr>
          <a:xfrm>
            <a:off x="9086850" y="4495800"/>
            <a:ext cx="1809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когда добавлять поисковый движок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18B3EDF1-ACCB-41FE-8B9F-A1BE3C672D9C}"/>
              </a:ext>
            </a:extLst>
          </p:cNvPr>
          <p:cNvSpPr>
            <a:spLocks noGrp="1"/>
          </p:cNvSpPr>
          <p:nvPr/>
        </p:nvSpPr>
        <p:spPr>
          <a:xfrm>
            <a:off x="952500" y="5638800"/>
            <a:ext cx="10287000" cy="4191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F8508CB2-B644-4EB6-8398-9DEF0EE44FD6}"/>
              </a:ext>
            </a:extLst>
          </p:cNvPr>
          <p:cNvSpPr>
            <a:spLocks noGrp="1"/>
          </p:cNvSpPr>
          <p:nvPr/>
        </p:nvSpPr>
        <p:spPr>
          <a:xfrm>
            <a:off x="1200150" y="5762625"/>
            <a:ext cx="9791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F9FA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9FAFB"/>
                </a:solidFill>
                <a:latin typeface="Aptos"/>
                <a:ea typeface="Aptos"/>
                <a:cs typeface="Aptos"/>
              </a:rPr>
              <a:t>Финальная мысль: Elasticsearch не заменяет PostgreSQL — он добавляет отдельную модель поиска поверх источника правды.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E220447E-0BE9-4B73-BE92-A2610711E95A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30653009-8B93-47A2-9B70-8D9436EECD3B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9144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8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58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Источник: локальный репозиторий MovieSearch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27F2E66D-300B-479A-ABAC-AD0D90C82363}"/>
              </a:ext>
            </a:extLst>
          </p:cNvPr>
          <p:cNvSpPr>
            <a:spLocks noGrp="1"/>
          </p:cNvSpPr>
          <p:nvPr/>
        </p:nvSpPr>
        <p:spPr>
          <a:xfrm>
            <a:off x="11201400" y="65151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B7280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B7280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58510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F117B7E4-D6D7-43E4-9128-74B4F22785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3-marker">
            <a:extLst>
              <a:ext uri="{FF2B5EF4-FFF2-40B4-BE49-F238E27FC236}">
                <a16:creationId xmlns:a16="http://schemas.microsoft.com/office/drawing/2014/main" id="{B7D84F24-5AD3-47DF-87DF-7052EAB9DD7D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95250" cy="952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3-label">
            <a:extLst>
              <a:ext uri="{FF2B5EF4-FFF2-40B4-BE49-F238E27FC236}">
                <a16:creationId xmlns:a16="http://schemas.microsoft.com/office/drawing/2014/main" id="{D8BA8DE6-74B0-4737-A1B9-3BC2A4301A08}"/>
              </a:ext>
            </a:extLst>
          </p:cNvPr>
          <p:cNvSpPr>
            <a:spLocks noGrp="1"/>
          </p:cNvSpPr>
          <p:nvPr/>
        </p:nvSpPr>
        <p:spPr>
          <a:xfrm>
            <a:off x="762000" y="4191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ДЕМО-СИСТЕМА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0B14218-E62C-4DF0-94B8-A7794CCB96BE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82867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Маленькое приложение содержит настоящий архитектурный выбор.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CA30C1F-BE04-47CE-A49C-99924BCC60A8}"/>
              </a:ext>
            </a:extLst>
          </p:cNvPr>
          <p:cNvSpPr>
            <a:spLocks noGrp="1"/>
          </p:cNvSpPr>
          <p:nvPr/>
        </p:nvSpPr>
        <p:spPr>
          <a:xfrm>
            <a:off x="571500" y="1638300"/>
            <a:ext cx="781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Один UI и один домен фильмов, но два возможных способа ответить на запрос пользователя: напрямую из PostgreSQL или через поисковый индекс.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9FC0B9B-F476-49EC-87D6-400532E2BC8D}"/>
              </a:ext>
            </a:extLst>
          </p:cNvPr>
          <p:cNvSpPr>
            <a:spLocks noGrp="1"/>
          </p:cNvSpPr>
          <p:nvPr/>
        </p:nvSpPr>
        <p:spPr>
          <a:xfrm>
            <a:off x="762000" y="3028950"/>
            <a:ext cx="18097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C6FD9D3-188A-4FA6-954E-1A3906954EFF}"/>
              </a:ext>
            </a:extLst>
          </p:cNvPr>
          <p:cNvSpPr>
            <a:spLocks noGrp="1"/>
          </p:cNvSpPr>
          <p:nvPr/>
        </p:nvSpPr>
        <p:spPr>
          <a:xfrm>
            <a:off x="762000" y="3028950"/>
            <a:ext cx="1809750" cy="47625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FEB79E2-DDF5-48A8-BCFC-358BD91DB961}"/>
              </a:ext>
            </a:extLst>
          </p:cNvPr>
          <p:cNvSpPr>
            <a:spLocks noGrp="1"/>
          </p:cNvSpPr>
          <p:nvPr/>
        </p:nvSpPr>
        <p:spPr>
          <a:xfrm>
            <a:off x="914400" y="3162300"/>
            <a:ext cx="15049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Пользователь</a:t>
            </a:r>
          </a:p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/search?query=...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A34B22B-F1FC-46B9-964E-E3C6F732E55E}"/>
              </a:ext>
            </a:extLst>
          </p:cNvPr>
          <p:cNvSpPr>
            <a:spLocks noGrp="1"/>
          </p:cNvSpPr>
          <p:nvPr/>
        </p:nvSpPr>
        <p:spPr>
          <a:xfrm>
            <a:off x="3238500" y="3028950"/>
            <a:ext cx="209550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295C55F-53DB-44E5-8F07-15FA72C3842A}"/>
              </a:ext>
            </a:extLst>
          </p:cNvPr>
          <p:cNvSpPr>
            <a:spLocks noGrp="1"/>
          </p:cNvSpPr>
          <p:nvPr/>
        </p:nvSpPr>
        <p:spPr>
          <a:xfrm>
            <a:off x="3238500" y="3028950"/>
            <a:ext cx="209550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C9B2BE9-942C-4E6C-A64F-36F5AADA3F59}"/>
              </a:ext>
            </a:extLst>
          </p:cNvPr>
          <p:cNvSpPr>
            <a:spLocks noGrp="1"/>
          </p:cNvSpPr>
          <p:nvPr/>
        </p:nvSpPr>
        <p:spPr>
          <a:xfrm>
            <a:off x="3390900" y="3162300"/>
            <a:ext cx="17907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Spring MVC</a:t>
            </a:r>
          </a:p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MovieSearchController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7FD24C0-1BDB-44E1-BDD9-0F7CE52EC6F6}"/>
              </a:ext>
            </a:extLst>
          </p:cNvPr>
          <p:cNvSpPr>
            <a:spLocks noGrp="1"/>
          </p:cNvSpPr>
          <p:nvPr/>
        </p:nvSpPr>
        <p:spPr>
          <a:xfrm>
            <a:off x="6000750" y="3028950"/>
            <a:ext cx="209550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A3871C4-540B-465E-B6DE-706E7E7E9FFA}"/>
              </a:ext>
            </a:extLst>
          </p:cNvPr>
          <p:cNvSpPr>
            <a:spLocks noGrp="1"/>
          </p:cNvSpPr>
          <p:nvPr/>
        </p:nvSpPr>
        <p:spPr>
          <a:xfrm>
            <a:off x="6000750" y="3028950"/>
            <a:ext cx="209550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2037667-11D0-4D02-99C0-BACD3AF00B12}"/>
              </a:ext>
            </a:extLst>
          </p:cNvPr>
          <p:cNvSpPr>
            <a:spLocks noGrp="1"/>
          </p:cNvSpPr>
          <p:nvPr/>
        </p:nvSpPr>
        <p:spPr>
          <a:xfrm>
            <a:off x="6153150" y="3162300"/>
            <a:ext cx="17907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MovieService</a:t>
            </a:r>
          </a:p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выбор поискового пути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0F6ADCB-40A2-4A9B-8034-7B1A256C6B85}"/>
              </a:ext>
            </a:extLst>
          </p:cNvPr>
          <p:cNvSpPr>
            <a:spLocks noGrp="1"/>
          </p:cNvSpPr>
          <p:nvPr/>
        </p:nvSpPr>
        <p:spPr>
          <a:xfrm>
            <a:off x="8858250" y="2152650"/>
            <a:ext cx="20002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9651614-6893-4890-A38A-B86EC3C57FEC}"/>
              </a:ext>
            </a:extLst>
          </p:cNvPr>
          <p:cNvSpPr>
            <a:spLocks noGrp="1"/>
          </p:cNvSpPr>
          <p:nvPr/>
        </p:nvSpPr>
        <p:spPr>
          <a:xfrm>
            <a:off x="8858250" y="2152650"/>
            <a:ext cx="2000250" cy="47625"/>
          </a:xfrm>
          <a:prstGeom prst="rect">
            <a:avLst/>
          </a:prstGeom>
          <a:solidFill>
            <a:srgbClr val="1580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5CDCC13-2005-4AAA-9F55-F9694A1D3A7F}"/>
              </a:ext>
            </a:extLst>
          </p:cNvPr>
          <p:cNvSpPr>
            <a:spLocks noGrp="1"/>
          </p:cNvSpPr>
          <p:nvPr/>
        </p:nvSpPr>
        <p:spPr>
          <a:xfrm>
            <a:off x="9010650" y="2286000"/>
            <a:ext cx="16954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PostgreSQL</a:t>
            </a:r>
          </a:p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movies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63E1A5D5-4785-4E39-8A24-4EDF5BBADCE9}"/>
              </a:ext>
            </a:extLst>
          </p:cNvPr>
          <p:cNvSpPr>
            <a:spLocks noGrp="1"/>
          </p:cNvSpPr>
          <p:nvPr/>
        </p:nvSpPr>
        <p:spPr>
          <a:xfrm>
            <a:off x="8858250" y="4000500"/>
            <a:ext cx="2000250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38C8D635-FFD3-4DF3-8050-431ED34EBC49}"/>
              </a:ext>
            </a:extLst>
          </p:cNvPr>
          <p:cNvSpPr>
            <a:spLocks noGrp="1"/>
          </p:cNvSpPr>
          <p:nvPr/>
        </p:nvSpPr>
        <p:spPr>
          <a:xfrm>
            <a:off x="8858250" y="4000500"/>
            <a:ext cx="2000250" cy="4762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BBC09B5E-AED9-461C-8DC6-84418B6374E9}"/>
              </a:ext>
            </a:extLst>
          </p:cNvPr>
          <p:cNvSpPr>
            <a:spLocks noGrp="1"/>
          </p:cNvSpPr>
          <p:nvPr/>
        </p:nvSpPr>
        <p:spPr>
          <a:xfrm>
            <a:off x="9010650" y="4133850"/>
            <a:ext cx="16954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Elasticsearch</a:t>
            </a:r>
          </a:p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movies_index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104F40AD-01B7-491C-85BE-79BB3894B77D}"/>
              </a:ext>
            </a:extLst>
          </p:cNvPr>
          <p:cNvSpPr>
            <a:spLocks noGrp="1"/>
          </p:cNvSpPr>
          <p:nvPr/>
        </p:nvSpPr>
        <p:spPr>
          <a:xfrm>
            <a:off x="2571750" y="3429000"/>
            <a:ext cx="666750" cy="190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0BF1FBA-83FD-47E7-88D8-7BAE412A1701}"/>
              </a:ext>
            </a:extLst>
          </p:cNvPr>
          <p:cNvSpPr>
            <a:spLocks noGrp="1"/>
          </p:cNvSpPr>
          <p:nvPr/>
        </p:nvSpPr>
        <p:spPr>
          <a:xfrm>
            <a:off x="3171825" y="3390900"/>
            <a:ext cx="66675" cy="952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B2EF454C-8CF6-4F56-B778-F118C8F8735A}"/>
              </a:ext>
            </a:extLst>
          </p:cNvPr>
          <p:cNvSpPr>
            <a:spLocks noGrp="1"/>
          </p:cNvSpPr>
          <p:nvPr/>
        </p:nvSpPr>
        <p:spPr>
          <a:xfrm>
            <a:off x="5334000" y="3429000"/>
            <a:ext cx="666750" cy="190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EA710129-8847-43F8-9D26-265C4BE23EBA}"/>
              </a:ext>
            </a:extLst>
          </p:cNvPr>
          <p:cNvSpPr>
            <a:spLocks noGrp="1"/>
          </p:cNvSpPr>
          <p:nvPr/>
        </p:nvSpPr>
        <p:spPr>
          <a:xfrm>
            <a:off x="5934075" y="3390900"/>
            <a:ext cx="66675" cy="952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D9975C64-EC4B-40C3-83B1-17078303A14F}"/>
              </a:ext>
            </a:extLst>
          </p:cNvPr>
          <p:cNvSpPr>
            <a:spLocks noGrp="1"/>
          </p:cNvSpPr>
          <p:nvPr/>
        </p:nvSpPr>
        <p:spPr>
          <a:xfrm>
            <a:off x="8096250" y="3371850"/>
            <a:ext cx="381000" cy="19050"/>
          </a:xfrm>
          <a:prstGeom prst="rect">
            <a:avLst/>
          </a:prstGeom>
          <a:solidFill>
            <a:srgbClr val="1580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A7456BA1-22FF-42B6-8F0B-14E86230985B}"/>
              </a:ext>
            </a:extLst>
          </p:cNvPr>
          <p:cNvSpPr>
            <a:spLocks noGrp="1"/>
          </p:cNvSpPr>
          <p:nvPr/>
        </p:nvSpPr>
        <p:spPr>
          <a:xfrm>
            <a:off x="8467725" y="2514600"/>
            <a:ext cx="19050" cy="866775"/>
          </a:xfrm>
          <a:prstGeom prst="rect">
            <a:avLst/>
          </a:prstGeom>
          <a:solidFill>
            <a:srgbClr val="1580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8824689E-0A68-4D4C-9D31-14A24C1E6D35}"/>
              </a:ext>
            </a:extLst>
          </p:cNvPr>
          <p:cNvSpPr>
            <a:spLocks noGrp="1"/>
          </p:cNvSpPr>
          <p:nvPr/>
        </p:nvSpPr>
        <p:spPr>
          <a:xfrm>
            <a:off x="8477250" y="2505075"/>
            <a:ext cx="381000" cy="19050"/>
          </a:xfrm>
          <a:prstGeom prst="rect">
            <a:avLst/>
          </a:prstGeom>
          <a:solidFill>
            <a:srgbClr val="1580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648D377A-190E-4225-BEF2-E7BF305470C9}"/>
              </a:ext>
            </a:extLst>
          </p:cNvPr>
          <p:cNvSpPr>
            <a:spLocks noGrp="1"/>
          </p:cNvSpPr>
          <p:nvPr/>
        </p:nvSpPr>
        <p:spPr>
          <a:xfrm>
            <a:off x="8791575" y="2466975"/>
            <a:ext cx="66675" cy="95250"/>
          </a:xfrm>
          <a:prstGeom prst="rect">
            <a:avLst/>
          </a:prstGeom>
          <a:solidFill>
            <a:srgbClr val="1580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7CA98F03-F252-40D2-8475-223BD963991E}"/>
              </a:ext>
            </a:extLst>
          </p:cNvPr>
          <p:cNvSpPr>
            <a:spLocks noGrp="1"/>
          </p:cNvSpPr>
          <p:nvPr/>
        </p:nvSpPr>
        <p:spPr>
          <a:xfrm>
            <a:off x="8096250" y="3533775"/>
            <a:ext cx="38100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07E29909-D6DF-41F6-BDB8-A194080A9113}"/>
              </a:ext>
            </a:extLst>
          </p:cNvPr>
          <p:cNvSpPr>
            <a:spLocks noGrp="1"/>
          </p:cNvSpPr>
          <p:nvPr/>
        </p:nvSpPr>
        <p:spPr>
          <a:xfrm>
            <a:off x="8467725" y="3543300"/>
            <a:ext cx="19050" cy="8191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6D7AC997-F0AA-4E41-A682-6ECB7F963AAF}"/>
              </a:ext>
            </a:extLst>
          </p:cNvPr>
          <p:cNvSpPr>
            <a:spLocks noGrp="1"/>
          </p:cNvSpPr>
          <p:nvPr/>
        </p:nvSpPr>
        <p:spPr>
          <a:xfrm>
            <a:off x="8477250" y="4352925"/>
            <a:ext cx="381000" cy="190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48B0F64A-2456-42B2-97ED-2BAB34C1B0EE}"/>
              </a:ext>
            </a:extLst>
          </p:cNvPr>
          <p:cNvSpPr>
            <a:spLocks noGrp="1"/>
          </p:cNvSpPr>
          <p:nvPr/>
        </p:nvSpPr>
        <p:spPr>
          <a:xfrm>
            <a:off x="8791575" y="4314825"/>
            <a:ext cx="66675" cy="952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DFCA16FF-8A6D-47CF-BFB7-0C596F4DF380}"/>
              </a:ext>
            </a:extLst>
          </p:cNvPr>
          <p:cNvSpPr>
            <a:spLocks noGrp="1"/>
          </p:cNvSpPr>
          <p:nvPr/>
        </p:nvSpPr>
        <p:spPr>
          <a:xfrm>
            <a:off x="6438900" y="2362200"/>
            <a:ext cx="1809750" cy="285750"/>
          </a:xfrm>
          <a:prstGeom prst="rect">
            <a:avLst/>
          </a:prstGeom>
          <a:solidFill>
            <a:srgbClr val="DBEAFE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08C0EEF2-6A92-491D-9947-02457A1CFFCA}"/>
              </a:ext>
            </a:extLst>
          </p:cNvPr>
          <p:cNvSpPr>
            <a:spLocks noGrp="1"/>
          </p:cNvSpPr>
          <p:nvPr/>
        </p:nvSpPr>
        <p:spPr>
          <a:xfrm>
            <a:off x="6534150" y="2428875"/>
            <a:ext cx="1619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simple: searchMovies(...)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CBA5F50C-2D74-463C-B1E3-0B598B221C6E}"/>
              </a:ext>
            </a:extLst>
          </p:cNvPr>
          <p:cNvSpPr>
            <a:spLocks noGrp="1"/>
          </p:cNvSpPr>
          <p:nvPr/>
        </p:nvSpPr>
        <p:spPr>
          <a:xfrm>
            <a:off x="6305550" y="4362450"/>
            <a:ext cx="2152650" cy="285750"/>
          </a:xfrm>
          <a:prstGeom prst="rect">
            <a:avLst/>
          </a:prstGeom>
          <a:solidFill>
            <a:srgbClr val="CCFBF1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73A9FC49-14EE-4699-9311-8B0B88CF67E8}"/>
              </a:ext>
            </a:extLst>
          </p:cNvPr>
          <p:cNvSpPr>
            <a:spLocks noGrp="1"/>
          </p:cNvSpPr>
          <p:nvPr/>
        </p:nvSpPr>
        <p:spPr>
          <a:xfrm>
            <a:off x="6400800" y="4429125"/>
            <a:ext cx="1962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elastic: searchMoviesViaElastic(...)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7A434CFD-F915-4D70-8116-10580701DF07}"/>
              </a:ext>
            </a:extLst>
          </p:cNvPr>
          <p:cNvSpPr>
            <a:spLocks noGrp="1"/>
          </p:cNvSpPr>
          <p:nvPr/>
        </p:nvSpPr>
        <p:spPr>
          <a:xfrm>
            <a:off x="742950" y="5219700"/>
            <a:ext cx="10134600" cy="609600"/>
          </a:xfrm>
          <a:prstGeom prst="rect">
            <a:avLst/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0DED8F94-3E9E-4E09-A188-0E27020DC997}"/>
              </a:ext>
            </a:extLst>
          </p:cNvPr>
          <p:cNvSpPr>
            <a:spLocks noGrp="1"/>
          </p:cNvSpPr>
          <p:nvPr/>
        </p:nvSpPr>
        <p:spPr>
          <a:xfrm>
            <a:off x="990600" y="5372100"/>
            <a:ext cx="96393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92400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2400E"/>
                </a:solidFill>
                <a:latin typeface="Aptos"/>
                <a:ea typeface="Aptos"/>
                <a:cs typeface="Aptos"/>
              </a:rPr>
              <a:t>Честная оговорка по локальным папкам: ветки `simplesearch` и `elasticsearch` сейчас дают одинаковое дерево файлов. Для презентации сравнение строится вокруг двух поисковых методов, которые уже есть в коде.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42550571-D62F-4D9B-863B-A6E3BA8BDA13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24224B01-A25B-4795-B617-2A627E40D778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9144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8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58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Код: MovieSearchController, MovieService, MovieRepository, MovieElasticsearchRepository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FD4C8F19-ACBC-43A7-B8B8-B5C7A9E46E55}"/>
              </a:ext>
            </a:extLst>
          </p:cNvPr>
          <p:cNvSpPr>
            <a:spLocks noGrp="1"/>
          </p:cNvSpPr>
          <p:nvPr/>
        </p:nvSpPr>
        <p:spPr>
          <a:xfrm>
            <a:off x="11201400" y="65151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B7280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B7280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52814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3FCFE794-0973-4C07-8446-4B5AF5B2D1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4-marker">
            <a:extLst>
              <a:ext uri="{FF2B5EF4-FFF2-40B4-BE49-F238E27FC236}">
                <a16:creationId xmlns:a16="http://schemas.microsoft.com/office/drawing/2014/main" id="{45D653DE-C755-4B54-98A1-0336CBE42296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95250" cy="952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4-label">
            <a:extLst>
              <a:ext uri="{FF2B5EF4-FFF2-40B4-BE49-F238E27FC236}">
                <a16:creationId xmlns:a16="http://schemas.microsoft.com/office/drawing/2014/main" id="{2CD6F6E1-C790-464D-9CBE-94996AD675E1}"/>
              </a:ext>
            </a:extLst>
          </p:cNvPr>
          <p:cNvSpPr>
            <a:spLocks noGrp="1"/>
          </p:cNvSpPr>
          <p:nvPr/>
        </p:nvSpPr>
        <p:spPr>
          <a:xfrm>
            <a:off x="762000" y="4191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SIMPLE SEARCH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D7FA48D-382A-43C0-9264-9F64A9174006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82867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Обычный поиск здесь — это фильтр по строкам плюс сортировка.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EBC9C0C-7C8E-4782-B782-4D0529C5079D}"/>
              </a:ext>
            </a:extLst>
          </p:cNvPr>
          <p:cNvSpPr>
            <a:spLocks noGrp="1"/>
          </p:cNvSpPr>
          <p:nvPr/>
        </p:nvSpPr>
        <p:spPr>
          <a:xfrm>
            <a:off x="571500" y="1638300"/>
            <a:ext cx="781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PostgreSQL получает параметр `query`, приводит поля к lower-case и проверяет, содержится ли строка внутри названия или описания.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8204AC7-0F13-473E-8E0A-2191B3F9F45A}"/>
              </a:ext>
            </a:extLst>
          </p:cNvPr>
          <p:cNvSpPr>
            <a:spLocks noGrp="1"/>
          </p:cNvSpPr>
          <p:nvPr/>
        </p:nvSpPr>
        <p:spPr>
          <a:xfrm>
            <a:off x="666750" y="2476500"/>
            <a:ext cx="5429250" cy="150495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A8C8D52-76CE-4B2D-9871-9396ACBCF96A}"/>
              </a:ext>
            </a:extLst>
          </p:cNvPr>
          <p:cNvSpPr>
            <a:spLocks noGrp="1"/>
          </p:cNvSpPr>
          <p:nvPr/>
        </p:nvSpPr>
        <p:spPr>
          <a:xfrm>
            <a:off x="838200" y="2628900"/>
            <a:ext cx="50863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013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SELECT m FROM Movie m</a:t>
            </a:r>
          </a:p>
          <a:p>
            <a:pPr algn="l">
              <a:defRPr sz="1013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013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WHERE LOWER(m.movie) LIKE LOWER(CONCAT('%', :query, '%'))</a:t>
            </a:r>
          </a:p>
          <a:p>
            <a:pPr algn="l">
              <a:defRPr sz="1013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013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 OR LOWER(m.overview) LIKE LOWER(CONCAT('%', :query, '%'))</a:t>
            </a:r>
          </a:p>
          <a:p>
            <a:pPr algn="l">
              <a:defRPr sz="1013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013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ORDER BY m.ratingBall DESC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9C463D4-4A16-4870-9973-77D4EB863086}"/>
              </a:ext>
            </a:extLst>
          </p:cNvPr>
          <p:cNvSpPr>
            <a:spLocks noGrp="1"/>
          </p:cNvSpPr>
          <p:nvPr/>
        </p:nvSpPr>
        <p:spPr>
          <a:xfrm>
            <a:off x="6858000" y="2343150"/>
            <a:ext cx="1047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D28DE19-CB41-4587-B9C4-F8D91D5BF1FC}"/>
              </a:ext>
            </a:extLst>
          </p:cNvPr>
          <p:cNvSpPr>
            <a:spLocks noGrp="1"/>
          </p:cNvSpPr>
          <p:nvPr/>
        </p:nvSpPr>
        <p:spPr>
          <a:xfrm>
            <a:off x="6858000" y="2343150"/>
            <a:ext cx="1047750" cy="47625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1508F96-B847-4197-8F91-B0DFC5C5CED3}"/>
              </a:ext>
            </a:extLst>
          </p:cNvPr>
          <p:cNvSpPr>
            <a:spLocks noGrp="1"/>
          </p:cNvSpPr>
          <p:nvPr/>
        </p:nvSpPr>
        <p:spPr>
          <a:xfrm>
            <a:off x="7010400" y="2476500"/>
            <a:ext cx="742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query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B86F198-B948-4B41-A62C-BD168C9F709F}"/>
              </a:ext>
            </a:extLst>
          </p:cNvPr>
          <p:cNvSpPr>
            <a:spLocks noGrp="1"/>
          </p:cNvSpPr>
          <p:nvPr/>
        </p:nvSpPr>
        <p:spPr>
          <a:xfrm>
            <a:off x="8572500" y="2343150"/>
            <a:ext cx="1619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7F181AC-1742-43D9-BCA4-00DBEA556D37}"/>
              </a:ext>
            </a:extLst>
          </p:cNvPr>
          <p:cNvSpPr>
            <a:spLocks noGrp="1"/>
          </p:cNvSpPr>
          <p:nvPr/>
        </p:nvSpPr>
        <p:spPr>
          <a:xfrm>
            <a:off x="8572500" y="2343150"/>
            <a:ext cx="161925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F3013CC-D655-4C11-815B-67B5D05D1567}"/>
              </a:ext>
            </a:extLst>
          </p:cNvPr>
          <p:cNvSpPr>
            <a:spLocks noGrp="1"/>
          </p:cNvSpPr>
          <p:nvPr/>
        </p:nvSpPr>
        <p:spPr>
          <a:xfrm>
            <a:off x="8724900" y="2476500"/>
            <a:ext cx="1314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LIKE %query%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C7F2030-D10F-4DE5-A191-AC0CAAA9911D}"/>
              </a:ext>
            </a:extLst>
          </p:cNvPr>
          <p:cNvSpPr>
            <a:spLocks noGrp="1"/>
          </p:cNvSpPr>
          <p:nvPr/>
        </p:nvSpPr>
        <p:spPr>
          <a:xfrm>
            <a:off x="8572500" y="3581400"/>
            <a:ext cx="1619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AB600E3-3553-4F49-95A0-EDD60D7369BC}"/>
              </a:ext>
            </a:extLst>
          </p:cNvPr>
          <p:cNvSpPr>
            <a:spLocks noGrp="1"/>
          </p:cNvSpPr>
          <p:nvPr/>
        </p:nvSpPr>
        <p:spPr>
          <a:xfrm>
            <a:off x="8572500" y="3581400"/>
            <a:ext cx="161925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C422A02-B609-470C-B039-151E5FB095F6}"/>
              </a:ext>
            </a:extLst>
          </p:cNvPr>
          <p:cNvSpPr>
            <a:spLocks noGrp="1"/>
          </p:cNvSpPr>
          <p:nvPr/>
        </p:nvSpPr>
        <p:spPr>
          <a:xfrm>
            <a:off x="8724900" y="3714750"/>
            <a:ext cx="1314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rating DESC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118E6D9-F821-415B-97EE-6CC96AEE458C}"/>
              </a:ext>
            </a:extLst>
          </p:cNvPr>
          <p:cNvSpPr>
            <a:spLocks noGrp="1"/>
          </p:cNvSpPr>
          <p:nvPr/>
        </p:nvSpPr>
        <p:spPr>
          <a:xfrm>
            <a:off x="6858000" y="4819650"/>
            <a:ext cx="1809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738C47E9-301B-42FC-A42C-9D141A59E896}"/>
              </a:ext>
            </a:extLst>
          </p:cNvPr>
          <p:cNvSpPr>
            <a:spLocks noGrp="1"/>
          </p:cNvSpPr>
          <p:nvPr/>
        </p:nvSpPr>
        <p:spPr>
          <a:xfrm>
            <a:off x="6858000" y="4819650"/>
            <a:ext cx="1809750" cy="47625"/>
          </a:xfrm>
          <a:prstGeom prst="rect">
            <a:avLst/>
          </a:prstGeom>
          <a:solidFill>
            <a:srgbClr val="1580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E2CC18AC-535F-4C6D-91D1-1B71DDD47E2D}"/>
              </a:ext>
            </a:extLst>
          </p:cNvPr>
          <p:cNvSpPr>
            <a:spLocks noGrp="1"/>
          </p:cNvSpPr>
          <p:nvPr/>
        </p:nvSpPr>
        <p:spPr>
          <a:xfrm>
            <a:off x="7010400" y="4953000"/>
            <a:ext cx="1504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Page&lt;Movie&gt;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6163217-DA57-4A0C-A147-331BE0CDC435}"/>
              </a:ext>
            </a:extLst>
          </p:cNvPr>
          <p:cNvSpPr>
            <a:spLocks noGrp="1"/>
          </p:cNvSpPr>
          <p:nvPr/>
        </p:nvSpPr>
        <p:spPr>
          <a:xfrm>
            <a:off x="7905750" y="2609850"/>
            <a:ext cx="666750" cy="190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9765672-17BE-4B5B-AD7B-39796E30C615}"/>
              </a:ext>
            </a:extLst>
          </p:cNvPr>
          <p:cNvSpPr>
            <a:spLocks noGrp="1"/>
          </p:cNvSpPr>
          <p:nvPr/>
        </p:nvSpPr>
        <p:spPr>
          <a:xfrm>
            <a:off x="8505825" y="2571750"/>
            <a:ext cx="66675" cy="952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D6A350D-E5B0-42EC-AB1C-49A5D5513FDE}"/>
              </a:ext>
            </a:extLst>
          </p:cNvPr>
          <p:cNvSpPr>
            <a:spLocks noGrp="1"/>
          </p:cNvSpPr>
          <p:nvPr/>
        </p:nvSpPr>
        <p:spPr>
          <a:xfrm>
            <a:off x="9382125" y="2886075"/>
            <a:ext cx="0" cy="190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BEDC2DAC-8F1D-4B16-8F91-5B3FD94BAE5D}"/>
              </a:ext>
            </a:extLst>
          </p:cNvPr>
          <p:cNvSpPr>
            <a:spLocks noGrp="1"/>
          </p:cNvSpPr>
          <p:nvPr/>
        </p:nvSpPr>
        <p:spPr>
          <a:xfrm>
            <a:off x="9372600" y="2895600"/>
            <a:ext cx="19050" cy="68580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9F740566-6B28-41AE-8EE7-ACBA9D78BC73}"/>
              </a:ext>
            </a:extLst>
          </p:cNvPr>
          <p:cNvSpPr>
            <a:spLocks noGrp="1"/>
          </p:cNvSpPr>
          <p:nvPr/>
        </p:nvSpPr>
        <p:spPr>
          <a:xfrm>
            <a:off x="9382125" y="3571875"/>
            <a:ext cx="0" cy="190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F3117863-1D16-454C-8570-8CDECF8C246E}"/>
              </a:ext>
            </a:extLst>
          </p:cNvPr>
          <p:cNvSpPr>
            <a:spLocks noGrp="1"/>
          </p:cNvSpPr>
          <p:nvPr/>
        </p:nvSpPr>
        <p:spPr>
          <a:xfrm>
            <a:off x="9315450" y="3533775"/>
            <a:ext cx="66675" cy="952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A7A24540-2A03-45CC-9F0E-119DE7E71B1A}"/>
              </a:ext>
            </a:extLst>
          </p:cNvPr>
          <p:cNvSpPr>
            <a:spLocks noGrp="1"/>
          </p:cNvSpPr>
          <p:nvPr/>
        </p:nvSpPr>
        <p:spPr>
          <a:xfrm>
            <a:off x="8572500" y="3848100"/>
            <a:ext cx="0" cy="190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687C38F-368B-482F-B2DA-C2C2B68F3453}"/>
              </a:ext>
            </a:extLst>
          </p:cNvPr>
          <p:cNvSpPr>
            <a:spLocks noGrp="1"/>
          </p:cNvSpPr>
          <p:nvPr/>
        </p:nvSpPr>
        <p:spPr>
          <a:xfrm>
            <a:off x="8143875" y="3857625"/>
            <a:ext cx="19050" cy="962025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9162293E-1CA6-419C-9BC4-E8007B0FDCE1}"/>
              </a:ext>
            </a:extLst>
          </p:cNvPr>
          <p:cNvSpPr>
            <a:spLocks noGrp="1"/>
          </p:cNvSpPr>
          <p:nvPr/>
        </p:nvSpPr>
        <p:spPr>
          <a:xfrm>
            <a:off x="8153400" y="4810125"/>
            <a:ext cx="0" cy="190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5ACAE9C7-FD37-4883-B912-535817D8D235}"/>
              </a:ext>
            </a:extLst>
          </p:cNvPr>
          <p:cNvSpPr>
            <a:spLocks noGrp="1"/>
          </p:cNvSpPr>
          <p:nvPr/>
        </p:nvSpPr>
        <p:spPr>
          <a:xfrm>
            <a:off x="7667625" y="4772025"/>
            <a:ext cx="66675" cy="952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F96CD17D-A97D-4B38-B110-8F83E2591836}"/>
              </a:ext>
            </a:extLst>
          </p:cNvPr>
          <p:cNvSpPr>
            <a:spLocks noGrp="1"/>
          </p:cNvSpPr>
          <p:nvPr/>
        </p:nvSpPr>
        <p:spPr>
          <a:xfrm>
            <a:off x="666750" y="4419600"/>
            <a:ext cx="54292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D0EFD464-36A6-4D50-8BD6-1F00A8890681}"/>
              </a:ext>
            </a:extLst>
          </p:cNvPr>
          <p:cNvSpPr>
            <a:spLocks noGrp="1"/>
          </p:cNvSpPr>
          <p:nvPr/>
        </p:nvSpPr>
        <p:spPr>
          <a:xfrm>
            <a:off x="914400" y="4695825"/>
            <a:ext cx="57150" cy="571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2BFE4886-A854-4D68-8EC3-2968BBEB6CFC}"/>
              </a:ext>
            </a:extLst>
          </p:cNvPr>
          <p:cNvSpPr>
            <a:spLocks noGrp="1"/>
          </p:cNvSpPr>
          <p:nvPr/>
        </p:nvSpPr>
        <p:spPr>
          <a:xfrm>
            <a:off x="1085850" y="4629150"/>
            <a:ext cx="4591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Совпадение бинарное: строка есть или её нет.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854D10D4-B54F-4A49-919A-FCB60A46029E}"/>
              </a:ext>
            </a:extLst>
          </p:cNvPr>
          <p:cNvSpPr>
            <a:spLocks noGrp="1"/>
          </p:cNvSpPr>
          <p:nvPr/>
        </p:nvSpPr>
        <p:spPr>
          <a:xfrm>
            <a:off x="914400" y="5076825"/>
            <a:ext cx="57150" cy="571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9B25B616-609A-45CF-ABF2-9760298AD580}"/>
              </a:ext>
            </a:extLst>
          </p:cNvPr>
          <p:cNvSpPr>
            <a:spLocks noGrp="1"/>
          </p:cNvSpPr>
          <p:nvPr/>
        </p:nvSpPr>
        <p:spPr>
          <a:xfrm>
            <a:off x="1085850" y="5010150"/>
            <a:ext cx="4591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Ранжирование отдельно: итоговый порядок задаёт рейтинг фильма.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76EFC7AD-B1AB-4D96-AD07-255C08CFCDD4}"/>
              </a:ext>
            </a:extLst>
          </p:cNvPr>
          <p:cNvSpPr>
            <a:spLocks noGrp="1"/>
          </p:cNvSpPr>
          <p:nvPr/>
        </p:nvSpPr>
        <p:spPr>
          <a:xfrm>
            <a:off x="6858000" y="5638800"/>
            <a:ext cx="4114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Это не плохо. Это самый короткий путь, когда нужен простой фильтр, мало данных и нет требований к релевантности.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EACEE962-9549-4E91-A886-1D4685C87D2C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437CEA48-0E75-4ED5-B377-D77D5DFB7C72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9144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8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58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MovieRepository.java:14-20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7CAAB9E2-A789-4578-8035-2527DA671E24}"/>
              </a:ext>
            </a:extLst>
          </p:cNvPr>
          <p:cNvSpPr>
            <a:spLocks noGrp="1"/>
          </p:cNvSpPr>
          <p:nvPr/>
        </p:nvSpPr>
        <p:spPr>
          <a:xfrm>
            <a:off x="11201400" y="65151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B7280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B7280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78669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4C66FAB6-F947-4993-B2B5-8E0B163305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5-marker">
            <a:extLst>
              <a:ext uri="{FF2B5EF4-FFF2-40B4-BE49-F238E27FC236}">
                <a16:creationId xmlns:a16="http://schemas.microsoft.com/office/drawing/2014/main" id="{9368954D-79BA-43C5-BE05-B58D21D42F85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95250" cy="952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5-label">
            <a:extLst>
              <a:ext uri="{FF2B5EF4-FFF2-40B4-BE49-F238E27FC236}">
                <a16:creationId xmlns:a16="http://schemas.microsoft.com/office/drawing/2014/main" id="{C3A850BB-5060-487A-8E23-475545E651CE}"/>
              </a:ext>
            </a:extLst>
          </p:cNvPr>
          <p:cNvSpPr>
            <a:spLocks noGrp="1"/>
          </p:cNvSpPr>
          <p:nvPr/>
        </p:nvSpPr>
        <p:spPr>
          <a:xfrm>
            <a:off x="762000" y="4191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ГРАНИЦА ПРИМЕНИМОСТИ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05049D0-1951-46CB-9FDE-2BD8D4447E77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82867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LIKE хорош для фильтра, но ломается как поисковый опыт.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45EB4CA-5C61-4030-BCDD-3312F27D88A0}"/>
              </a:ext>
            </a:extLst>
          </p:cNvPr>
          <p:cNvSpPr>
            <a:spLocks noGrp="1"/>
          </p:cNvSpPr>
          <p:nvPr/>
        </p:nvSpPr>
        <p:spPr>
          <a:xfrm>
            <a:off x="571500" y="1638300"/>
            <a:ext cx="781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Проблема возникает не в первой версии приложения, а в момент, когда пользователь ожидает поведение “как в поиске”: вариативность языка, приоритеты полей и объяснимый порядок результатов.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1AAB1DA-6AF3-4859-9C0C-BF58DA9F87BD}"/>
              </a:ext>
            </a:extLst>
          </p:cNvPr>
          <p:cNvSpPr>
            <a:spLocks noGrp="1"/>
          </p:cNvSpPr>
          <p:nvPr/>
        </p:nvSpPr>
        <p:spPr>
          <a:xfrm>
            <a:off x="800100" y="2647950"/>
            <a:ext cx="4572000" cy="457200"/>
          </a:xfrm>
          <a:prstGeom prst="rect">
            <a:avLst/>
          </a:prstGeom>
          <a:solidFill>
            <a:srgbClr val="DBEAFE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DB22EB0-CBE9-420C-8173-920496B36259}"/>
              </a:ext>
            </a:extLst>
          </p:cNvPr>
          <p:cNvSpPr>
            <a:spLocks noGrp="1"/>
          </p:cNvSpPr>
          <p:nvPr/>
        </p:nvSpPr>
        <p:spPr>
          <a:xfrm>
            <a:off x="895350" y="2724150"/>
            <a:ext cx="4381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Где LIKE уместен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5704E77-8E5C-4927-8F0F-A474456FA5B2}"/>
              </a:ext>
            </a:extLst>
          </p:cNvPr>
          <p:cNvSpPr>
            <a:spLocks noGrp="1"/>
          </p:cNvSpPr>
          <p:nvPr/>
        </p:nvSpPr>
        <p:spPr>
          <a:xfrm>
            <a:off x="6438900" y="2647950"/>
            <a:ext cx="4572000" cy="457200"/>
          </a:xfrm>
          <a:prstGeom prst="rect">
            <a:avLst/>
          </a:prstGeom>
          <a:solidFill>
            <a:srgbClr val="CCFBF1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27877E2-7AEF-448F-8D2D-F50EB39D0BC2}"/>
              </a:ext>
            </a:extLst>
          </p:cNvPr>
          <p:cNvSpPr>
            <a:spLocks noGrp="1"/>
          </p:cNvSpPr>
          <p:nvPr/>
        </p:nvSpPr>
        <p:spPr>
          <a:xfrm>
            <a:off x="6534150" y="2724150"/>
            <a:ext cx="4381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Где нужен поисковый движок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F1E16F7-48F8-4A50-8F92-AC55B1E36F34}"/>
              </a:ext>
            </a:extLst>
          </p:cNvPr>
          <p:cNvSpPr>
            <a:spLocks noGrp="1"/>
          </p:cNvSpPr>
          <p:nvPr/>
        </p:nvSpPr>
        <p:spPr>
          <a:xfrm>
            <a:off x="800100" y="3276600"/>
            <a:ext cx="16192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D69AE96-B32B-4FD6-BB2B-E6FBE503328F}"/>
              </a:ext>
            </a:extLst>
          </p:cNvPr>
          <p:cNvSpPr>
            <a:spLocks noGrp="1"/>
          </p:cNvSpPr>
          <p:nvPr/>
        </p:nvSpPr>
        <p:spPr>
          <a:xfrm>
            <a:off x="895350" y="3352800"/>
            <a:ext cx="1428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Админские фильтры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A5927F8-F725-4B4D-98C7-2DABC492AFFE}"/>
              </a:ext>
            </a:extLst>
          </p:cNvPr>
          <p:cNvSpPr>
            <a:spLocks noGrp="1"/>
          </p:cNvSpPr>
          <p:nvPr/>
        </p:nvSpPr>
        <p:spPr>
          <a:xfrm>
            <a:off x="2419350" y="3276600"/>
            <a:ext cx="29527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3C442B3-D2F2-4A66-9261-C5E3DA538E82}"/>
              </a:ext>
            </a:extLst>
          </p:cNvPr>
          <p:cNvSpPr>
            <a:spLocks noGrp="1"/>
          </p:cNvSpPr>
          <p:nvPr/>
        </p:nvSpPr>
        <p:spPr>
          <a:xfrm>
            <a:off x="2514600" y="3352800"/>
            <a:ext cx="2762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найти точную подстроку в небольшом списке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8B3F021-ABFA-4C82-9A25-319497C1C870}"/>
              </a:ext>
            </a:extLst>
          </p:cNvPr>
          <p:cNvSpPr>
            <a:spLocks noGrp="1"/>
          </p:cNvSpPr>
          <p:nvPr/>
        </p:nvSpPr>
        <p:spPr>
          <a:xfrm>
            <a:off x="800100" y="4019550"/>
            <a:ext cx="16192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B839929-DA69-4649-9F36-1B582DAA28C8}"/>
              </a:ext>
            </a:extLst>
          </p:cNvPr>
          <p:cNvSpPr>
            <a:spLocks noGrp="1"/>
          </p:cNvSpPr>
          <p:nvPr/>
        </p:nvSpPr>
        <p:spPr>
          <a:xfrm>
            <a:off x="895350" y="4095750"/>
            <a:ext cx="1428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Низкая цена входа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8058A9F-D379-4C5A-8732-1427BB761EF8}"/>
              </a:ext>
            </a:extLst>
          </p:cNvPr>
          <p:cNvSpPr>
            <a:spLocks noGrp="1"/>
          </p:cNvSpPr>
          <p:nvPr/>
        </p:nvSpPr>
        <p:spPr>
          <a:xfrm>
            <a:off x="2419350" y="4019550"/>
            <a:ext cx="29527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A633E28-5245-4217-A810-11486AC8872A}"/>
              </a:ext>
            </a:extLst>
          </p:cNvPr>
          <p:cNvSpPr>
            <a:spLocks noGrp="1"/>
          </p:cNvSpPr>
          <p:nvPr/>
        </p:nvSpPr>
        <p:spPr>
          <a:xfrm>
            <a:off x="2514600" y="4095750"/>
            <a:ext cx="2762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нет отдельного индекса и фоновой синхронизации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FB2D269-031F-46D9-A4BB-185D6F292F3B}"/>
              </a:ext>
            </a:extLst>
          </p:cNvPr>
          <p:cNvSpPr>
            <a:spLocks noGrp="1"/>
          </p:cNvSpPr>
          <p:nvPr/>
        </p:nvSpPr>
        <p:spPr>
          <a:xfrm>
            <a:off x="800100" y="4762500"/>
            <a:ext cx="16192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083D499-83E2-48BA-AE3C-0808103BD22F}"/>
              </a:ext>
            </a:extLst>
          </p:cNvPr>
          <p:cNvSpPr>
            <a:spLocks noGrp="1"/>
          </p:cNvSpPr>
          <p:nvPr/>
        </p:nvSpPr>
        <p:spPr>
          <a:xfrm>
            <a:off x="895350" y="4838700"/>
            <a:ext cx="1428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Источник правды один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97AFCA2-1DA1-4631-8AAB-11C22A014E39}"/>
              </a:ext>
            </a:extLst>
          </p:cNvPr>
          <p:cNvSpPr>
            <a:spLocks noGrp="1"/>
          </p:cNvSpPr>
          <p:nvPr/>
        </p:nvSpPr>
        <p:spPr>
          <a:xfrm>
            <a:off x="2419350" y="4762500"/>
            <a:ext cx="29527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B0A11974-5E23-4B4E-9ED6-C779FF0D18B0}"/>
              </a:ext>
            </a:extLst>
          </p:cNvPr>
          <p:cNvSpPr>
            <a:spLocks noGrp="1"/>
          </p:cNvSpPr>
          <p:nvPr/>
        </p:nvSpPr>
        <p:spPr>
          <a:xfrm>
            <a:off x="2514600" y="4838700"/>
            <a:ext cx="2762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данные не дублируются в другой системе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EC3DFE5A-610E-4A4B-8A39-6B8AA5930FE8}"/>
              </a:ext>
            </a:extLst>
          </p:cNvPr>
          <p:cNvSpPr>
            <a:spLocks noGrp="1"/>
          </p:cNvSpPr>
          <p:nvPr/>
        </p:nvSpPr>
        <p:spPr>
          <a:xfrm>
            <a:off x="6438900" y="3276600"/>
            <a:ext cx="16192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FEEAFBAA-7917-4283-9E35-FE46266D711B}"/>
              </a:ext>
            </a:extLst>
          </p:cNvPr>
          <p:cNvSpPr>
            <a:spLocks noGrp="1"/>
          </p:cNvSpPr>
          <p:nvPr/>
        </p:nvSpPr>
        <p:spPr>
          <a:xfrm>
            <a:off x="6534150" y="3352800"/>
            <a:ext cx="1428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Язык и морфология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913E15D3-B173-41FA-A9D1-A9258602FC54}"/>
              </a:ext>
            </a:extLst>
          </p:cNvPr>
          <p:cNvSpPr>
            <a:spLocks noGrp="1"/>
          </p:cNvSpPr>
          <p:nvPr/>
        </p:nvSpPr>
        <p:spPr>
          <a:xfrm>
            <a:off x="8058150" y="3276600"/>
            <a:ext cx="29527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2DA0BF06-3580-4852-9F2C-6C098B09A3DC}"/>
              </a:ext>
            </a:extLst>
          </p:cNvPr>
          <p:cNvSpPr>
            <a:spLocks noGrp="1"/>
          </p:cNvSpPr>
          <p:nvPr/>
        </p:nvSpPr>
        <p:spPr>
          <a:xfrm>
            <a:off x="8153400" y="3352800"/>
            <a:ext cx="2762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слова должны матчиться не только как буквальная строка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7C06362F-34BA-43B0-8DB9-650D31520C0E}"/>
              </a:ext>
            </a:extLst>
          </p:cNvPr>
          <p:cNvSpPr>
            <a:spLocks noGrp="1"/>
          </p:cNvSpPr>
          <p:nvPr/>
        </p:nvSpPr>
        <p:spPr>
          <a:xfrm>
            <a:off x="6438900" y="4019550"/>
            <a:ext cx="16192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9BF312F0-4AEE-4C09-BC72-1D2D2331A3B8}"/>
              </a:ext>
            </a:extLst>
          </p:cNvPr>
          <p:cNvSpPr>
            <a:spLocks noGrp="1"/>
          </p:cNvSpPr>
          <p:nvPr/>
        </p:nvSpPr>
        <p:spPr>
          <a:xfrm>
            <a:off x="6534150" y="4095750"/>
            <a:ext cx="1428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Релевантность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433105D7-1234-4627-AC34-D9C2DF765F79}"/>
              </a:ext>
            </a:extLst>
          </p:cNvPr>
          <p:cNvSpPr>
            <a:spLocks noGrp="1"/>
          </p:cNvSpPr>
          <p:nvPr/>
        </p:nvSpPr>
        <p:spPr>
          <a:xfrm>
            <a:off x="8058150" y="4019550"/>
            <a:ext cx="29527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BA66CB51-5216-4645-8A32-F13762276EF0}"/>
              </a:ext>
            </a:extLst>
          </p:cNvPr>
          <p:cNvSpPr>
            <a:spLocks noGrp="1"/>
          </p:cNvSpPr>
          <p:nvPr/>
        </p:nvSpPr>
        <p:spPr>
          <a:xfrm>
            <a:off x="8153400" y="4095750"/>
            <a:ext cx="2762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название важнее описания, фраза важнее отдельных слов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8D7D16DF-7AB7-4309-9B5D-8F5634EB585D}"/>
              </a:ext>
            </a:extLst>
          </p:cNvPr>
          <p:cNvSpPr>
            <a:spLocks noGrp="1"/>
          </p:cNvSpPr>
          <p:nvPr/>
        </p:nvSpPr>
        <p:spPr>
          <a:xfrm>
            <a:off x="6438900" y="4762500"/>
            <a:ext cx="16192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DD8F694B-030F-4248-8A3D-6036B46F6B9B}"/>
              </a:ext>
            </a:extLst>
          </p:cNvPr>
          <p:cNvSpPr>
            <a:spLocks noGrp="1"/>
          </p:cNvSpPr>
          <p:nvPr/>
        </p:nvSpPr>
        <p:spPr>
          <a:xfrm>
            <a:off x="6534150" y="4838700"/>
            <a:ext cx="1428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Рост нагрузки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57D10686-AE3D-432A-9BDC-A8F7D72FDB3A}"/>
              </a:ext>
            </a:extLst>
          </p:cNvPr>
          <p:cNvSpPr>
            <a:spLocks noGrp="1"/>
          </p:cNvSpPr>
          <p:nvPr/>
        </p:nvSpPr>
        <p:spPr>
          <a:xfrm>
            <a:off x="8058150" y="4762500"/>
            <a:ext cx="29527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FB93BCA2-FE9E-4A46-912D-EA75BBB77ECC}"/>
              </a:ext>
            </a:extLst>
          </p:cNvPr>
          <p:cNvSpPr>
            <a:spLocks noGrp="1"/>
          </p:cNvSpPr>
          <p:nvPr/>
        </p:nvSpPr>
        <p:spPr>
          <a:xfrm>
            <a:off x="8153400" y="4838700"/>
            <a:ext cx="2762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поиск не должен превращать БД в текстовый сканер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FDFF0866-2E35-46C1-B46F-CF4CCC71566C}"/>
              </a:ext>
            </a:extLst>
          </p:cNvPr>
          <p:cNvSpPr>
            <a:spLocks noGrp="1"/>
          </p:cNvSpPr>
          <p:nvPr/>
        </p:nvSpPr>
        <p:spPr>
          <a:xfrm>
            <a:off x="5829300" y="3409950"/>
            <a:ext cx="19050" cy="165735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00BC8BCB-A928-4F72-8560-6793FCF794C4}"/>
              </a:ext>
            </a:extLst>
          </p:cNvPr>
          <p:cNvSpPr>
            <a:spLocks noGrp="1"/>
          </p:cNvSpPr>
          <p:nvPr/>
        </p:nvSpPr>
        <p:spPr>
          <a:xfrm>
            <a:off x="5448300" y="5276850"/>
            <a:ext cx="1466850" cy="28575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B2B616AD-21B9-4D51-8898-1B405C4E981B}"/>
              </a:ext>
            </a:extLst>
          </p:cNvPr>
          <p:cNvSpPr>
            <a:spLocks noGrp="1"/>
          </p:cNvSpPr>
          <p:nvPr/>
        </p:nvSpPr>
        <p:spPr>
          <a:xfrm>
            <a:off x="5562600" y="5353050"/>
            <a:ext cx="12382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F9FAF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9FAFB"/>
                </a:solidFill>
                <a:latin typeface="Aptos"/>
                <a:ea typeface="Aptos"/>
                <a:cs typeface="Aptos"/>
              </a:rPr>
              <a:t>другой инструмент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491B4FAA-EEA5-4F46-BDA1-B443257950C0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6F130ED1-22C7-44D8-B6F7-1D4423D404F9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9144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8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58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Источник: локальный репозиторий MovieSearch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0D699D4D-1E23-43FD-BE0A-DC30DD579982}"/>
              </a:ext>
            </a:extLst>
          </p:cNvPr>
          <p:cNvSpPr>
            <a:spLocks noGrp="1"/>
          </p:cNvSpPr>
          <p:nvPr/>
        </p:nvSpPr>
        <p:spPr>
          <a:xfrm>
            <a:off x="11201400" y="65151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B7280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B7280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51953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7DDCFE89-3790-476E-B038-ADFB8A21FB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6-marker">
            <a:extLst>
              <a:ext uri="{FF2B5EF4-FFF2-40B4-BE49-F238E27FC236}">
                <a16:creationId xmlns:a16="http://schemas.microsoft.com/office/drawing/2014/main" id="{1CB9B345-4D24-4C8B-A3D8-9C3DA69BF361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95250" cy="952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6-label">
            <a:extLst>
              <a:ext uri="{FF2B5EF4-FFF2-40B4-BE49-F238E27FC236}">
                <a16:creationId xmlns:a16="http://schemas.microsoft.com/office/drawing/2014/main" id="{76256121-A18A-4D83-9887-F93A722BC4E0}"/>
              </a:ext>
            </a:extLst>
          </p:cNvPr>
          <p:cNvSpPr>
            <a:spLocks noGrp="1"/>
          </p:cNvSpPr>
          <p:nvPr/>
        </p:nvSpPr>
        <p:spPr>
          <a:xfrm>
            <a:off x="762000" y="4191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ELASTICSEARCH PATH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1EEAB8A-7183-45B5-BFB3-1C00255C2898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83820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Elasticsearch добавляет отдельную структуру для поиска по тексту.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D09F010-6F93-41CC-A3D7-BE684B75FD81}"/>
              </a:ext>
            </a:extLst>
          </p:cNvPr>
          <p:cNvSpPr>
            <a:spLocks noGrp="1"/>
          </p:cNvSpPr>
          <p:nvPr/>
        </p:nvSpPr>
        <p:spPr>
          <a:xfrm>
            <a:off x="571500" y="1638300"/>
            <a:ext cx="781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PostgreSQL остаётся источником полной карточки фильма. В Elasticsearch уходит компактный документ `MovieDoc`: id, movie, overview.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497E8C0-E817-48D1-A2F9-861E0B26A16B}"/>
              </a:ext>
            </a:extLst>
          </p:cNvPr>
          <p:cNvSpPr>
            <a:spLocks noGrp="1"/>
          </p:cNvSpPr>
          <p:nvPr/>
        </p:nvSpPr>
        <p:spPr>
          <a:xfrm>
            <a:off x="800100" y="3028950"/>
            <a:ext cx="1809750" cy="781050"/>
          </a:xfrm>
          <a:prstGeom prst="rect">
            <a:avLst/>
          </a:prstGeom>
          <a:solidFill>
            <a:srgbClr val="F9FAFB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8FD8D2F-3A3C-4CD6-8096-5AAB39B9AD4E}"/>
              </a:ext>
            </a:extLst>
          </p:cNvPr>
          <p:cNvSpPr>
            <a:spLocks noGrp="1"/>
          </p:cNvSpPr>
          <p:nvPr/>
        </p:nvSpPr>
        <p:spPr>
          <a:xfrm>
            <a:off x="800100" y="3028950"/>
            <a:ext cx="1809750" cy="47625"/>
          </a:xfrm>
          <a:prstGeom prst="rect">
            <a:avLst/>
          </a:prstGeom>
          <a:solidFill>
            <a:srgbClr val="1580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1E743F2-27E0-49DA-B562-96E23BECEC2B}"/>
              </a:ext>
            </a:extLst>
          </p:cNvPr>
          <p:cNvSpPr>
            <a:spLocks noGrp="1"/>
          </p:cNvSpPr>
          <p:nvPr/>
        </p:nvSpPr>
        <p:spPr>
          <a:xfrm>
            <a:off x="952500" y="3162300"/>
            <a:ext cx="15049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PostgreSQL</a:t>
            </a:r>
          </a:p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Movie rows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4198486-52A1-4F0B-8C50-1C3E2D1D0492}"/>
              </a:ext>
            </a:extLst>
          </p:cNvPr>
          <p:cNvSpPr>
            <a:spLocks noGrp="1"/>
          </p:cNvSpPr>
          <p:nvPr/>
        </p:nvSpPr>
        <p:spPr>
          <a:xfrm>
            <a:off x="3333750" y="2857500"/>
            <a:ext cx="2190750" cy="1123950"/>
          </a:xfrm>
          <a:prstGeom prst="rect">
            <a:avLst/>
          </a:prstGeom>
          <a:solidFill>
            <a:srgbClr val="F9FAFB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362B415-EDF4-45DE-B0A3-19A4A9C01D5E}"/>
              </a:ext>
            </a:extLst>
          </p:cNvPr>
          <p:cNvSpPr>
            <a:spLocks noGrp="1"/>
          </p:cNvSpPr>
          <p:nvPr/>
        </p:nvSpPr>
        <p:spPr>
          <a:xfrm>
            <a:off x="3333750" y="2857500"/>
            <a:ext cx="2190750" cy="47625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BFFA2BF-18D3-41DD-9ED1-9781825DEF34}"/>
              </a:ext>
            </a:extLst>
          </p:cNvPr>
          <p:cNvSpPr>
            <a:spLocks noGrp="1"/>
          </p:cNvSpPr>
          <p:nvPr/>
        </p:nvSpPr>
        <p:spPr>
          <a:xfrm>
            <a:off x="3486150" y="2990850"/>
            <a:ext cx="18859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reindexAllMovies()</a:t>
            </a:r>
          </a:p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map Movie -&gt; MovieDoc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2EA063D-EC77-47E4-B7B7-98EA3C3CADED}"/>
              </a:ext>
            </a:extLst>
          </p:cNvPr>
          <p:cNvSpPr>
            <a:spLocks noGrp="1"/>
          </p:cNvSpPr>
          <p:nvPr/>
        </p:nvSpPr>
        <p:spPr>
          <a:xfrm>
            <a:off x="6286500" y="3028950"/>
            <a:ext cx="2000250" cy="781050"/>
          </a:xfrm>
          <a:prstGeom prst="rect">
            <a:avLst/>
          </a:prstGeom>
          <a:solidFill>
            <a:srgbClr val="F9FAFB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D03D495-334A-4AAA-AECF-964F1DCD810E}"/>
              </a:ext>
            </a:extLst>
          </p:cNvPr>
          <p:cNvSpPr>
            <a:spLocks noGrp="1"/>
          </p:cNvSpPr>
          <p:nvPr/>
        </p:nvSpPr>
        <p:spPr>
          <a:xfrm>
            <a:off x="6286500" y="3028950"/>
            <a:ext cx="2000250" cy="4762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6F47925-430C-4333-A79F-9F94AC8EEF8D}"/>
              </a:ext>
            </a:extLst>
          </p:cNvPr>
          <p:cNvSpPr>
            <a:spLocks noGrp="1"/>
          </p:cNvSpPr>
          <p:nvPr/>
        </p:nvSpPr>
        <p:spPr>
          <a:xfrm>
            <a:off x="6438900" y="3162300"/>
            <a:ext cx="16954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Elasticsearch</a:t>
            </a:r>
          </a:p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movies_index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36C1123-8989-44D1-8609-241E702B951E}"/>
              </a:ext>
            </a:extLst>
          </p:cNvPr>
          <p:cNvSpPr>
            <a:spLocks noGrp="1"/>
          </p:cNvSpPr>
          <p:nvPr/>
        </p:nvSpPr>
        <p:spPr>
          <a:xfrm>
            <a:off x="9048750" y="2857500"/>
            <a:ext cx="2095500" cy="1123950"/>
          </a:xfrm>
          <a:prstGeom prst="rect">
            <a:avLst/>
          </a:prstGeom>
          <a:solidFill>
            <a:srgbClr val="F9FAFB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92C97CF-2EE6-4980-AB61-FC15C5499FE3}"/>
              </a:ext>
            </a:extLst>
          </p:cNvPr>
          <p:cNvSpPr>
            <a:spLocks noGrp="1"/>
          </p:cNvSpPr>
          <p:nvPr/>
        </p:nvSpPr>
        <p:spPr>
          <a:xfrm>
            <a:off x="9048750" y="2857500"/>
            <a:ext cx="209550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DEBF538-E9A1-4CB7-81E7-F6906E2F56C6}"/>
              </a:ext>
            </a:extLst>
          </p:cNvPr>
          <p:cNvSpPr>
            <a:spLocks noGrp="1"/>
          </p:cNvSpPr>
          <p:nvPr/>
        </p:nvSpPr>
        <p:spPr>
          <a:xfrm>
            <a:off x="9201150" y="2990850"/>
            <a:ext cx="17907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search query</a:t>
            </a:r>
          </a:p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multi_match + phrase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4C44DF36-7EE0-4D97-872F-6D3807CB2C90}"/>
              </a:ext>
            </a:extLst>
          </p:cNvPr>
          <p:cNvSpPr>
            <a:spLocks noGrp="1"/>
          </p:cNvSpPr>
          <p:nvPr/>
        </p:nvSpPr>
        <p:spPr>
          <a:xfrm>
            <a:off x="2609850" y="3409950"/>
            <a:ext cx="723900" cy="19050"/>
          </a:xfrm>
          <a:prstGeom prst="rect">
            <a:avLst/>
          </a:prstGeom>
          <a:solidFill>
            <a:srgbClr val="94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EBA41CD-392D-4CE1-A044-794F4D38D535}"/>
              </a:ext>
            </a:extLst>
          </p:cNvPr>
          <p:cNvSpPr>
            <a:spLocks noGrp="1"/>
          </p:cNvSpPr>
          <p:nvPr/>
        </p:nvSpPr>
        <p:spPr>
          <a:xfrm>
            <a:off x="3267075" y="3371850"/>
            <a:ext cx="66675" cy="95250"/>
          </a:xfrm>
          <a:prstGeom prst="rect">
            <a:avLst/>
          </a:prstGeom>
          <a:solidFill>
            <a:srgbClr val="94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E15175D-03DF-4BEB-8E5D-631EF7DA42FD}"/>
              </a:ext>
            </a:extLst>
          </p:cNvPr>
          <p:cNvSpPr>
            <a:spLocks noGrp="1"/>
          </p:cNvSpPr>
          <p:nvPr/>
        </p:nvSpPr>
        <p:spPr>
          <a:xfrm>
            <a:off x="5524500" y="3409950"/>
            <a:ext cx="762000" cy="19050"/>
          </a:xfrm>
          <a:prstGeom prst="rect">
            <a:avLst/>
          </a:prstGeom>
          <a:solidFill>
            <a:srgbClr val="94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CEBB266-8E5F-4EBC-ABB1-BA0A4F96CA5A}"/>
              </a:ext>
            </a:extLst>
          </p:cNvPr>
          <p:cNvSpPr>
            <a:spLocks noGrp="1"/>
          </p:cNvSpPr>
          <p:nvPr/>
        </p:nvSpPr>
        <p:spPr>
          <a:xfrm>
            <a:off x="6219825" y="3371850"/>
            <a:ext cx="66675" cy="95250"/>
          </a:xfrm>
          <a:prstGeom prst="rect">
            <a:avLst/>
          </a:prstGeom>
          <a:solidFill>
            <a:srgbClr val="94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622D495-E747-48F6-BD37-1BA7E26F826A}"/>
              </a:ext>
            </a:extLst>
          </p:cNvPr>
          <p:cNvSpPr>
            <a:spLocks noGrp="1"/>
          </p:cNvSpPr>
          <p:nvPr/>
        </p:nvSpPr>
        <p:spPr>
          <a:xfrm>
            <a:off x="8286750" y="3409950"/>
            <a:ext cx="762000" cy="19050"/>
          </a:xfrm>
          <a:prstGeom prst="rect">
            <a:avLst/>
          </a:prstGeom>
          <a:solidFill>
            <a:srgbClr val="94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54D27DB3-06D6-479F-8A26-0A6452595C77}"/>
              </a:ext>
            </a:extLst>
          </p:cNvPr>
          <p:cNvSpPr>
            <a:spLocks noGrp="1"/>
          </p:cNvSpPr>
          <p:nvPr/>
        </p:nvSpPr>
        <p:spPr>
          <a:xfrm>
            <a:off x="8982075" y="3371850"/>
            <a:ext cx="66675" cy="95250"/>
          </a:xfrm>
          <a:prstGeom prst="rect">
            <a:avLst/>
          </a:prstGeom>
          <a:solidFill>
            <a:srgbClr val="94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1B621777-63A1-465F-83E3-F70BCC611479}"/>
              </a:ext>
            </a:extLst>
          </p:cNvPr>
          <p:cNvSpPr>
            <a:spLocks noGrp="1"/>
          </p:cNvSpPr>
          <p:nvPr/>
        </p:nvSpPr>
        <p:spPr>
          <a:xfrm>
            <a:off x="6705600" y="4362450"/>
            <a:ext cx="514350" cy="285750"/>
          </a:xfrm>
          <a:prstGeom prst="rect">
            <a:avLst/>
          </a:prstGeom>
          <a:solidFill>
            <a:srgbClr val="CCFBF1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67D08845-0098-4CD3-9CBF-E77086694A23}"/>
              </a:ext>
            </a:extLst>
          </p:cNvPr>
          <p:cNvSpPr>
            <a:spLocks noGrp="1"/>
          </p:cNvSpPr>
          <p:nvPr/>
        </p:nvSpPr>
        <p:spPr>
          <a:xfrm>
            <a:off x="6800850" y="4429125"/>
            <a:ext cx="323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id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57370A1C-0140-4209-B845-913C7C8003D6}"/>
              </a:ext>
            </a:extLst>
          </p:cNvPr>
          <p:cNvSpPr>
            <a:spLocks noGrp="1"/>
          </p:cNvSpPr>
          <p:nvPr/>
        </p:nvSpPr>
        <p:spPr>
          <a:xfrm>
            <a:off x="7334250" y="4362450"/>
            <a:ext cx="704850" cy="285750"/>
          </a:xfrm>
          <a:prstGeom prst="rect">
            <a:avLst/>
          </a:prstGeom>
          <a:solidFill>
            <a:srgbClr val="CCFBF1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67478432-E0FE-4831-8193-2A6858EDEAC7}"/>
              </a:ext>
            </a:extLst>
          </p:cNvPr>
          <p:cNvSpPr>
            <a:spLocks noGrp="1"/>
          </p:cNvSpPr>
          <p:nvPr/>
        </p:nvSpPr>
        <p:spPr>
          <a:xfrm>
            <a:off x="7429500" y="4429125"/>
            <a:ext cx="514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movie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74B075CC-D7EF-4AF5-8538-23F1951ED915}"/>
              </a:ext>
            </a:extLst>
          </p:cNvPr>
          <p:cNvSpPr>
            <a:spLocks noGrp="1"/>
          </p:cNvSpPr>
          <p:nvPr/>
        </p:nvSpPr>
        <p:spPr>
          <a:xfrm>
            <a:off x="8153400" y="4362450"/>
            <a:ext cx="914400" cy="285750"/>
          </a:xfrm>
          <a:prstGeom prst="rect">
            <a:avLst/>
          </a:prstGeom>
          <a:solidFill>
            <a:srgbClr val="CCFBF1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9EF3B85B-EB69-401B-8657-14CDE37817BD}"/>
              </a:ext>
            </a:extLst>
          </p:cNvPr>
          <p:cNvSpPr>
            <a:spLocks noGrp="1"/>
          </p:cNvSpPr>
          <p:nvPr/>
        </p:nvSpPr>
        <p:spPr>
          <a:xfrm>
            <a:off x="8248650" y="4429125"/>
            <a:ext cx="723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overview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7A9742AE-6B9B-4B72-A1AB-3E8232474960}"/>
              </a:ext>
            </a:extLst>
          </p:cNvPr>
          <p:cNvSpPr>
            <a:spLocks noGrp="1"/>
          </p:cNvSpPr>
          <p:nvPr/>
        </p:nvSpPr>
        <p:spPr>
          <a:xfrm>
            <a:off x="800100" y="5105400"/>
            <a:ext cx="10344150" cy="457200"/>
          </a:xfrm>
          <a:prstGeom prst="rect">
            <a:avLst/>
          </a:prstGeom>
          <a:solidFill>
            <a:srgbClr val="1F2937"/>
          </a:solidFill>
          <a:ln w="9525">
            <a:solidFill>
              <a:srgbClr val="374151"/>
            </a:solidFill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174AA1A4-C73D-411B-8D88-3A3E66F4A800}"/>
              </a:ext>
            </a:extLst>
          </p:cNvPr>
          <p:cNvSpPr>
            <a:spLocks noGrp="1"/>
          </p:cNvSpPr>
          <p:nvPr/>
        </p:nvSpPr>
        <p:spPr>
          <a:xfrm>
            <a:off x="1066800" y="5238750"/>
            <a:ext cx="9810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Поиск возвращает id документов в релевантном порядке; приложение добирает полные Movie из PostgreSQL и сохраняет порядок выдачи.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415F5A6A-4630-4B3A-84E1-0DFE30FE4218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2E3EEB9C-8AAD-40E0-A4F3-2910FE2CE75E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9144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8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58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MovieIndexingService.java:22-34; MovieService.java:34-45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4408F75A-97A9-417F-A52D-594093440DAE}"/>
              </a:ext>
            </a:extLst>
          </p:cNvPr>
          <p:cNvSpPr>
            <a:spLocks noGrp="1"/>
          </p:cNvSpPr>
          <p:nvPr/>
        </p:nvSpPr>
        <p:spPr>
          <a:xfrm>
            <a:off x="11201400" y="65151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B7280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B7280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61702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E1E369AE-1C31-4B7A-8D90-42779244C2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7-marker">
            <a:extLst>
              <a:ext uri="{FF2B5EF4-FFF2-40B4-BE49-F238E27FC236}">
                <a16:creationId xmlns:a16="http://schemas.microsoft.com/office/drawing/2014/main" id="{0F7C6FD5-49E3-4F3D-BA9E-B783A138FD89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95250" cy="952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7-label">
            <a:extLst>
              <a:ext uri="{FF2B5EF4-FFF2-40B4-BE49-F238E27FC236}">
                <a16:creationId xmlns:a16="http://schemas.microsoft.com/office/drawing/2014/main" id="{5879DBF0-E8DD-4ED6-977B-A6C40D54B2A7}"/>
              </a:ext>
            </a:extLst>
          </p:cNvPr>
          <p:cNvSpPr>
            <a:spLocks noGrp="1"/>
          </p:cNvSpPr>
          <p:nvPr/>
        </p:nvSpPr>
        <p:spPr>
          <a:xfrm>
            <a:off x="762000" y="4191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ANALYZER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6D7F2FC-6C96-4D12-83F1-C3E982567C94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82867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Поисковый движок сначала нормализует язык, а потом ищет.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F2CC111-51F8-400D-B045-8D41306733C9}"/>
              </a:ext>
            </a:extLst>
          </p:cNvPr>
          <p:cNvSpPr>
            <a:spLocks noGrp="1"/>
          </p:cNvSpPr>
          <p:nvPr/>
        </p:nvSpPr>
        <p:spPr>
          <a:xfrm>
            <a:off x="571500" y="1638300"/>
            <a:ext cx="781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В проекте `russian_analyzer` применён к `movie` и `overview`: стандартный tokenizer, lower-case и russian stemmer.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A078E86-A899-4F22-8EA4-B0895D2DCCB2}"/>
              </a:ext>
            </a:extLst>
          </p:cNvPr>
          <p:cNvSpPr>
            <a:spLocks noGrp="1"/>
          </p:cNvSpPr>
          <p:nvPr/>
        </p:nvSpPr>
        <p:spPr>
          <a:xfrm>
            <a:off x="723900" y="2781300"/>
            <a:ext cx="2095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D83FD9D-1762-4646-9C51-31FF72546D09}"/>
              </a:ext>
            </a:extLst>
          </p:cNvPr>
          <p:cNvSpPr>
            <a:spLocks noGrp="1"/>
          </p:cNvSpPr>
          <p:nvPr/>
        </p:nvSpPr>
        <p:spPr>
          <a:xfrm>
            <a:off x="723900" y="2781300"/>
            <a:ext cx="2095500" cy="47625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D3BD51F-52A9-4AA7-AC7A-13427C729A76}"/>
              </a:ext>
            </a:extLst>
          </p:cNvPr>
          <p:cNvSpPr>
            <a:spLocks noGrp="1"/>
          </p:cNvSpPr>
          <p:nvPr/>
        </p:nvSpPr>
        <p:spPr>
          <a:xfrm>
            <a:off x="876300" y="2914650"/>
            <a:ext cx="1790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Исходный текст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7B85B6A-8C01-4244-8AB1-5B73EB97DBFF}"/>
              </a:ext>
            </a:extLst>
          </p:cNvPr>
          <p:cNvSpPr>
            <a:spLocks noGrp="1"/>
          </p:cNvSpPr>
          <p:nvPr/>
        </p:nvSpPr>
        <p:spPr>
          <a:xfrm>
            <a:off x="723900" y="3600450"/>
            <a:ext cx="20955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74103D1-92CE-4A86-A392-4B5FEA9BF7A9}"/>
              </a:ext>
            </a:extLst>
          </p:cNvPr>
          <p:cNvSpPr>
            <a:spLocks noGrp="1"/>
          </p:cNvSpPr>
          <p:nvPr/>
        </p:nvSpPr>
        <p:spPr>
          <a:xfrm>
            <a:off x="857250" y="3790950"/>
            <a:ext cx="1828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Пол повидал много заключённых...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8822DCA-812A-4FA5-9BE9-351BAD447918}"/>
              </a:ext>
            </a:extLst>
          </p:cNvPr>
          <p:cNvSpPr>
            <a:spLocks noGrp="1"/>
          </p:cNvSpPr>
          <p:nvPr/>
        </p:nvSpPr>
        <p:spPr>
          <a:xfrm>
            <a:off x="2819400" y="4000500"/>
            <a:ext cx="685800" cy="190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2EF345-8C16-4DB3-8E51-AD38D90E59BB}"/>
              </a:ext>
            </a:extLst>
          </p:cNvPr>
          <p:cNvSpPr>
            <a:spLocks noGrp="1"/>
          </p:cNvSpPr>
          <p:nvPr/>
        </p:nvSpPr>
        <p:spPr>
          <a:xfrm>
            <a:off x="3438525" y="3962400"/>
            <a:ext cx="66675" cy="952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D7DB454-8CE0-48A5-B182-6440F6CF1BD2}"/>
              </a:ext>
            </a:extLst>
          </p:cNvPr>
          <p:cNvSpPr>
            <a:spLocks noGrp="1"/>
          </p:cNvSpPr>
          <p:nvPr/>
        </p:nvSpPr>
        <p:spPr>
          <a:xfrm>
            <a:off x="3505200" y="2781300"/>
            <a:ext cx="2095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5E370BB-F414-46A9-B5DC-909C891915BD}"/>
              </a:ext>
            </a:extLst>
          </p:cNvPr>
          <p:cNvSpPr>
            <a:spLocks noGrp="1"/>
          </p:cNvSpPr>
          <p:nvPr/>
        </p:nvSpPr>
        <p:spPr>
          <a:xfrm>
            <a:off x="3505200" y="2781300"/>
            <a:ext cx="2095500" cy="4762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1F3596C-F1FC-481F-BB0E-FB4794E14EF7}"/>
              </a:ext>
            </a:extLst>
          </p:cNvPr>
          <p:cNvSpPr>
            <a:spLocks noGrp="1"/>
          </p:cNvSpPr>
          <p:nvPr/>
        </p:nvSpPr>
        <p:spPr>
          <a:xfrm>
            <a:off x="3657600" y="2914650"/>
            <a:ext cx="1790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tokenizer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194B4E0-496E-48FC-8143-4AE89AAFD246}"/>
              </a:ext>
            </a:extLst>
          </p:cNvPr>
          <p:cNvSpPr>
            <a:spLocks noGrp="1"/>
          </p:cNvSpPr>
          <p:nvPr/>
        </p:nvSpPr>
        <p:spPr>
          <a:xfrm>
            <a:off x="3505200" y="3600450"/>
            <a:ext cx="20955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C3455AE-7BEC-49BF-A035-D90DC08965EB}"/>
              </a:ext>
            </a:extLst>
          </p:cNvPr>
          <p:cNvSpPr>
            <a:spLocks noGrp="1"/>
          </p:cNvSpPr>
          <p:nvPr/>
        </p:nvSpPr>
        <p:spPr>
          <a:xfrm>
            <a:off x="3638550" y="3790950"/>
            <a:ext cx="1828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013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пол | повидал | много | заключённых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8A24867-F742-453B-9B48-9FFC10F6CAE9}"/>
              </a:ext>
            </a:extLst>
          </p:cNvPr>
          <p:cNvSpPr>
            <a:spLocks noGrp="1"/>
          </p:cNvSpPr>
          <p:nvPr/>
        </p:nvSpPr>
        <p:spPr>
          <a:xfrm>
            <a:off x="5600700" y="4000500"/>
            <a:ext cx="685800" cy="190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04B59244-6CEE-43CA-A394-3A77E7C6B354}"/>
              </a:ext>
            </a:extLst>
          </p:cNvPr>
          <p:cNvSpPr>
            <a:spLocks noGrp="1"/>
          </p:cNvSpPr>
          <p:nvPr/>
        </p:nvSpPr>
        <p:spPr>
          <a:xfrm>
            <a:off x="6219825" y="3962400"/>
            <a:ext cx="66675" cy="952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20584A95-8B6D-4C49-9A1C-994C8BBCDCCD}"/>
              </a:ext>
            </a:extLst>
          </p:cNvPr>
          <p:cNvSpPr>
            <a:spLocks noGrp="1"/>
          </p:cNvSpPr>
          <p:nvPr/>
        </p:nvSpPr>
        <p:spPr>
          <a:xfrm>
            <a:off x="6286500" y="2781300"/>
            <a:ext cx="2095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85BEA66-7C29-43B5-9576-DBA1C342397C}"/>
              </a:ext>
            </a:extLst>
          </p:cNvPr>
          <p:cNvSpPr>
            <a:spLocks noGrp="1"/>
          </p:cNvSpPr>
          <p:nvPr/>
        </p:nvSpPr>
        <p:spPr>
          <a:xfrm>
            <a:off x="6286500" y="2781300"/>
            <a:ext cx="2095500" cy="4762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848C064-2003-4321-AA1C-F1C973108B50}"/>
              </a:ext>
            </a:extLst>
          </p:cNvPr>
          <p:cNvSpPr>
            <a:spLocks noGrp="1"/>
          </p:cNvSpPr>
          <p:nvPr/>
        </p:nvSpPr>
        <p:spPr>
          <a:xfrm>
            <a:off x="6438900" y="2914650"/>
            <a:ext cx="1790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lowercase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050AEB0E-87E6-4B7E-8111-1193DA0C9158}"/>
              </a:ext>
            </a:extLst>
          </p:cNvPr>
          <p:cNvSpPr>
            <a:spLocks noGrp="1"/>
          </p:cNvSpPr>
          <p:nvPr/>
        </p:nvSpPr>
        <p:spPr>
          <a:xfrm>
            <a:off x="6286500" y="3600450"/>
            <a:ext cx="20955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2F9245FF-D8D9-400D-9845-C95F7311C53C}"/>
              </a:ext>
            </a:extLst>
          </p:cNvPr>
          <p:cNvSpPr>
            <a:spLocks noGrp="1"/>
          </p:cNvSpPr>
          <p:nvPr/>
        </p:nvSpPr>
        <p:spPr>
          <a:xfrm>
            <a:off x="6419850" y="3790950"/>
            <a:ext cx="1828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013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пол | повидал | много | заключённых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92ED0009-B10B-40B3-9471-C2E39DBFC8FD}"/>
              </a:ext>
            </a:extLst>
          </p:cNvPr>
          <p:cNvSpPr>
            <a:spLocks noGrp="1"/>
          </p:cNvSpPr>
          <p:nvPr/>
        </p:nvSpPr>
        <p:spPr>
          <a:xfrm>
            <a:off x="8382000" y="4000500"/>
            <a:ext cx="685800" cy="190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0CD67E9E-C8D1-486B-9445-477DA211E119}"/>
              </a:ext>
            </a:extLst>
          </p:cNvPr>
          <p:cNvSpPr>
            <a:spLocks noGrp="1"/>
          </p:cNvSpPr>
          <p:nvPr/>
        </p:nvSpPr>
        <p:spPr>
          <a:xfrm>
            <a:off x="9001125" y="3962400"/>
            <a:ext cx="66675" cy="952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B71098B6-6004-4843-A88C-2FE2CDCB6ACA}"/>
              </a:ext>
            </a:extLst>
          </p:cNvPr>
          <p:cNvSpPr>
            <a:spLocks noGrp="1"/>
          </p:cNvSpPr>
          <p:nvPr/>
        </p:nvSpPr>
        <p:spPr>
          <a:xfrm>
            <a:off x="9067800" y="2781300"/>
            <a:ext cx="2095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D5E57C2E-A9BB-4ACE-B5E5-2694052AFDF0}"/>
              </a:ext>
            </a:extLst>
          </p:cNvPr>
          <p:cNvSpPr>
            <a:spLocks noGrp="1"/>
          </p:cNvSpPr>
          <p:nvPr/>
        </p:nvSpPr>
        <p:spPr>
          <a:xfrm>
            <a:off x="9067800" y="2781300"/>
            <a:ext cx="2095500" cy="4762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D2716901-D3F0-4E94-9E1D-629E74BA6067}"/>
              </a:ext>
            </a:extLst>
          </p:cNvPr>
          <p:cNvSpPr>
            <a:spLocks noGrp="1"/>
          </p:cNvSpPr>
          <p:nvPr/>
        </p:nvSpPr>
        <p:spPr>
          <a:xfrm>
            <a:off x="9220200" y="2914650"/>
            <a:ext cx="17907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stemmer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F364DF87-B2E9-447C-BCD6-1DEF355E2B20}"/>
              </a:ext>
            </a:extLst>
          </p:cNvPr>
          <p:cNvSpPr>
            <a:spLocks noGrp="1"/>
          </p:cNvSpPr>
          <p:nvPr/>
        </p:nvSpPr>
        <p:spPr>
          <a:xfrm>
            <a:off x="9067800" y="3600450"/>
            <a:ext cx="20955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1A761CCD-ABB2-4A97-B574-4B6707AA7CED}"/>
              </a:ext>
            </a:extLst>
          </p:cNvPr>
          <p:cNvSpPr>
            <a:spLocks noGrp="1"/>
          </p:cNvSpPr>
          <p:nvPr/>
        </p:nvSpPr>
        <p:spPr>
          <a:xfrm>
            <a:off x="9201150" y="3790950"/>
            <a:ext cx="1828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0F766E"/>
                </a:solidFill>
                <a:latin typeface="Aptos Mono"/>
                <a:ea typeface="Aptos Mono"/>
                <a:cs typeface="Aptos Mono"/>
              </a:defRPr>
            </a:pPr>
            <a:r>
              <a:rPr sz="1013" b="0">
                <a:solidFill>
                  <a:srgbClr val="0F766E"/>
                </a:solidFill>
                <a:latin typeface="Aptos Mono"/>
                <a:ea typeface="Aptos Mono"/>
                <a:cs typeface="Aptos Mono"/>
              </a:rPr>
              <a:t>пол | повида | мног | заключ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291A2509-13ED-4416-967E-80A5D61E969D}"/>
              </a:ext>
            </a:extLst>
          </p:cNvPr>
          <p:cNvSpPr>
            <a:spLocks noGrp="1"/>
          </p:cNvSpPr>
          <p:nvPr/>
        </p:nvSpPr>
        <p:spPr>
          <a:xfrm>
            <a:off x="3143250" y="5010150"/>
            <a:ext cx="1257300" cy="285750"/>
          </a:xfrm>
          <a:prstGeom prst="rect">
            <a:avLst/>
          </a:prstGeom>
          <a:solidFill>
            <a:srgbClr val="CCFBF1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B554030F-199E-446C-A95E-30458E1469C6}"/>
              </a:ext>
            </a:extLst>
          </p:cNvPr>
          <p:cNvSpPr>
            <a:spLocks noGrp="1"/>
          </p:cNvSpPr>
          <p:nvPr/>
        </p:nvSpPr>
        <p:spPr>
          <a:xfrm>
            <a:off x="3238500" y="5076825"/>
            <a:ext cx="1066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MovieDoc.movie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6BE0B25A-9CAD-4E92-9B5E-E9CEBE770428}"/>
              </a:ext>
            </a:extLst>
          </p:cNvPr>
          <p:cNvSpPr>
            <a:spLocks noGrp="1"/>
          </p:cNvSpPr>
          <p:nvPr/>
        </p:nvSpPr>
        <p:spPr>
          <a:xfrm>
            <a:off x="4591050" y="5010150"/>
            <a:ext cx="1562100" cy="285750"/>
          </a:xfrm>
          <a:prstGeom prst="rect">
            <a:avLst/>
          </a:prstGeom>
          <a:solidFill>
            <a:srgbClr val="CCFBF1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F60A9A35-FFD8-4F52-9EFA-60FBA52AB625}"/>
              </a:ext>
            </a:extLst>
          </p:cNvPr>
          <p:cNvSpPr>
            <a:spLocks noGrp="1"/>
          </p:cNvSpPr>
          <p:nvPr/>
        </p:nvSpPr>
        <p:spPr>
          <a:xfrm>
            <a:off x="4686300" y="5076825"/>
            <a:ext cx="1371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MovieDoc.overview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83691478-9C46-490B-9574-EC09FC445565}"/>
              </a:ext>
            </a:extLst>
          </p:cNvPr>
          <p:cNvSpPr>
            <a:spLocks noGrp="1"/>
          </p:cNvSpPr>
          <p:nvPr/>
        </p:nvSpPr>
        <p:spPr>
          <a:xfrm>
            <a:off x="6515100" y="4933950"/>
            <a:ext cx="4191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В итоге запрос и документ сравниваются не как длинные строки, а как подготовленные термины. Это и открывает путь к морфологии, fuzzy-поиску, подсветке и нормальному ranking.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43521B29-C9DC-4287-A0E9-814F465F66BF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0D0C9773-4412-49C0-A597-87CC679C2F4A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9144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8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58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elasticsearch-settings.json:1-17; MovieDoc.java:21-25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4F8DCA19-9550-47FF-B383-FA06FC11016B}"/>
              </a:ext>
            </a:extLst>
          </p:cNvPr>
          <p:cNvSpPr>
            <a:spLocks noGrp="1"/>
          </p:cNvSpPr>
          <p:nvPr/>
        </p:nvSpPr>
        <p:spPr>
          <a:xfrm>
            <a:off x="11201400" y="65151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B7280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B7280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3368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FDF0B41F-4740-4525-BC58-C8C205B602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8-marker">
            <a:extLst>
              <a:ext uri="{FF2B5EF4-FFF2-40B4-BE49-F238E27FC236}">
                <a16:creationId xmlns:a16="http://schemas.microsoft.com/office/drawing/2014/main" id="{CFB6B9E9-48C3-4B33-A8B9-623C394E13E0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95250" cy="952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8-label">
            <a:extLst>
              <a:ext uri="{FF2B5EF4-FFF2-40B4-BE49-F238E27FC236}">
                <a16:creationId xmlns:a16="http://schemas.microsoft.com/office/drawing/2014/main" id="{9808C04F-9749-4D91-9EA5-820CF2C25141}"/>
              </a:ext>
            </a:extLst>
          </p:cNvPr>
          <p:cNvSpPr>
            <a:spLocks noGrp="1"/>
          </p:cNvSpPr>
          <p:nvPr/>
        </p:nvSpPr>
        <p:spPr>
          <a:xfrm>
            <a:off x="762000" y="4191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RELEVANCE SCORING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2E9BE66-65CE-4057-9FE6-A7D031CEBCC9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82867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Релевантность появляется там, где совпадения получают вес.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84876BF-CD3C-4CB4-A714-324ADE5EA357}"/>
              </a:ext>
            </a:extLst>
          </p:cNvPr>
          <p:cNvSpPr>
            <a:spLocks noGrp="1"/>
          </p:cNvSpPr>
          <p:nvPr/>
        </p:nvSpPr>
        <p:spPr>
          <a:xfrm>
            <a:off x="571500" y="1638300"/>
            <a:ext cx="781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В Elasticsearch-запросе название фильма важнее описания, а точная фраза получает дополнительный boost. Это уже не просто “нашлось / не нашлось”.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6FE649C-7697-43DC-8F58-25E005973DC5}"/>
              </a:ext>
            </a:extLst>
          </p:cNvPr>
          <p:cNvSpPr>
            <a:spLocks noGrp="1"/>
          </p:cNvSpPr>
          <p:nvPr/>
        </p:nvSpPr>
        <p:spPr>
          <a:xfrm>
            <a:off x="933450" y="27622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movie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8E0D772-EA28-4ECE-8C4C-BE08571A5880}"/>
              </a:ext>
            </a:extLst>
          </p:cNvPr>
          <p:cNvSpPr>
            <a:spLocks noGrp="1"/>
          </p:cNvSpPr>
          <p:nvPr/>
        </p:nvSpPr>
        <p:spPr>
          <a:xfrm>
            <a:off x="2400300" y="278130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multi_match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1ED937B-9E67-4E3B-8DE5-B370F0A0392C}"/>
              </a:ext>
            </a:extLst>
          </p:cNvPr>
          <p:cNvSpPr>
            <a:spLocks noGrp="1"/>
          </p:cNvSpPr>
          <p:nvPr/>
        </p:nvSpPr>
        <p:spPr>
          <a:xfrm>
            <a:off x="3905250" y="2752725"/>
            <a:ext cx="3429000" cy="2667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0CF9EDE-E684-405C-B12E-7524E27B9AE8}"/>
              </a:ext>
            </a:extLst>
          </p:cNvPr>
          <p:cNvSpPr>
            <a:spLocks noGrp="1"/>
          </p:cNvSpPr>
          <p:nvPr/>
        </p:nvSpPr>
        <p:spPr>
          <a:xfrm>
            <a:off x="7467600" y="2781300"/>
            <a:ext cx="514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x4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C28C376-CECF-4B68-94F9-BC5277C51C5A}"/>
              </a:ext>
            </a:extLst>
          </p:cNvPr>
          <p:cNvSpPr>
            <a:spLocks noGrp="1"/>
          </p:cNvSpPr>
          <p:nvPr/>
        </p:nvSpPr>
        <p:spPr>
          <a:xfrm>
            <a:off x="3905250" y="3162300"/>
            <a:ext cx="4286250" cy="9525"/>
          </a:xfrm>
          <a:prstGeom prst="rect">
            <a:avLst/>
          </a:prstGeom>
          <a:solidFill>
            <a:srgbClr val="D8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1C5C66A-A939-4EC8-887A-5F1D24D29BAA}"/>
              </a:ext>
            </a:extLst>
          </p:cNvPr>
          <p:cNvSpPr>
            <a:spLocks noGrp="1"/>
          </p:cNvSpPr>
          <p:nvPr/>
        </p:nvSpPr>
        <p:spPr>
          <a:xfrm>
            <a:off x="933450" y="34290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overview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D6F1896-C577-42C5-BB5F-EBE9403BF517}"/>
              </a:ext>
            </a:extLst>
          </p:cNvPr>
          <p:cNvSpPr>
            <a:spLocks noGrp="1"/>
          </p:cNvSpPr>
          <p:nvPr/>
        </p:nvSpPr>
        <p:spPr>
          <a:xfrm>
            <a:off x="2400300" y="344805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multi_match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C22DB2E-062F-4A72-AE5A-C78EF184C050}"/>
              </a:ext>
            </a:extLst>
          </p:cNvPr>
          <p:cNvSpPr>
            <a:spLocks noGrp="1"/>
          </p:cNvSpPr>
          <p:nvPr/>
        </p:nvSpPr>
        <p:spPr>
          <a:xfrm>
            <a:off x="3905250" y="3419475"/>
            <a:ext cx="2571750" cy="2667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F79A916-1344-49C3-8FA5-5DA2AD34EFA3}"/>
              </a:ext>
            </a:extLst>
          </p:cNvPr>
          <p:cNvSpPr>
            <a:spLocks noGrp="1"/>
          </p:cNvSpPr>
          <p:nvPr/>
        </p:nvSpPr>
        <p:spPr>
          <a:xfrm>
            <a:off x="6610350" y="3448050"/>
            <a:ext cx="514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x3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1343BFC-F22E-4CC7-B504-6D1CB7DF08EF}"/>
              </a:ext>
            </a:extLst>
          </p:cNvPr>
          <p:cNvSpPr>
            <a:spLocks noGrp="1"/>
          </p:cNvSpPr>
          <p:nvPr/>
        </p:nvSpPr>
        <p:spPr>
          <a:xfrm>
            <a:off x="3905250" y="3829050"/>
            <a:ext cx="4286250" cy="9525"/>
          </a:xfrm>
          <a:prstGeom prst="rect">
            <a:avLst/>
          </a:prstGeom>
          <a:solidFill>
            <a:srgbClr val="D8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4898AA2-4947-4D5D-B69E-CA3818D3ACB5}"/>
              </a:ext>
            </a:extLst>
          </p:cNvPr>
          <p:cNvSpPr>
            <a:spLocks noGrp="1"/>
          </p:cNvSpPr>
          <p:nvPr/>
        </p:nvSpPr>
        <p:spPr>
          <a:xfrm>
            <a:off x="933450" y="409575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movie phrase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58901F5-10CA-4E0A-B30F-474ECAFD05BF}"/>
              </a:ext>
            </a:extLst>
          </p:cNvPr>
          <p:cNvSpPr>
            <a:spLocks noGrp="1"/>
          </p:cNvSpPr>
          <p:nvPr/>
        </p:nvSpPr>
        <p:spPr>
          <a:xfrm>
            <a:off x="2400300" y="411480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match_phrase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785A5209-F699-4C8A-A0EE-60FEB4048889}"/>
              </a:ext>
            </a:extLst>
          </p:cNvPr>
          <p:cNvSpPr>
            <a:spLocks noGrp="1"/>
          </p:cNvSpPr>
          <p:nvPr/>
        </p:nvSpPr>
        <p:spPr>
          <a:xfrm>
            <a:off x="3905250" y="4086225"/>
            <a:ext cx="2571750" cy="2667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86ABDC03-128B-4C92-B551-E5C3D091A05A}"/>
              </a:ext>
            </a:extLst>
          </p:cNvPr>
          <p:cNvSpPr>
            <a:spLocks noGrp="1"/>
          </p:cNvSpPr>
          <p:nvPr/>
        </p:nvSpPr>
        <p:spPr>
          <a:xfrm>
            <a:off x="6610350" y="4114800"/>
            <a:ext cx="514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x3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052D3FE-CCA3-48D1-A56D-6FBCFCDB58D1}"/>
              </a:ext>
            </a:extLst>
          </p:cNvPr>
          <p:cNvSpPr>
            <a:spLocks noGrp="1"/>
          </p:cNvSpPr>
          <p:nvPr/>
        </p:nvSpPr>
        <p:spPr>
          <a:xfrm>
            <a:off x="3905250" y="4495800"/>
            <a:ext cx="4286250" cy="9525"/>
          </a:xfrm>
          <a:prstGeom prst="rect">
            <a:avLst/>
          </a:prstGeom>
          <a:solidFill>
            <a:srgbClr val="D8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4596E4C-5B85-4939-9EB1-1D33AC913529}"/>
              </a:ext>
            </a:extLst>
          </p:cNvPr>
          <p:cNvSpPr>
            <a:spLocks noGrp="1"/>
          </p:cNvSpPr>
          <p:nvPr/>
        </p:nvSpPr>
        <p:spPr>
          <a:xfrm>
            <a:off x="933450" y="47625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overview phrase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0EA42B03-2539-4161-AF81-905BA7A78946}"/>
              </a:ext>
            </a:extLst>
          </p:cNvPr>
          <p:cNvSpPr>
            <a:spLocks noGrp="1"/>
          </p:cNvSpPr>
          <p:nvPr/>
        </p:nvSpPr>
        <p:spPr>
          <a:xfrm>
            <a:off x="2400300" y="478155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match_phrase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CFB1A0EE-7498-41AD-B579-CB4302987E03}"/>
              </a:ext>
            </a:extLst>
          </p:cNvPr>
          <p:cNvSpPr>
            <a:spLocks noGrp="1"/>
          </p:cNvSpPr>
          <p:nvPr/>
        </p:nvSpPr>
        <p:spPr>
          <a:xfrm>
            <a:off x="3905250" y="4752975"/>
            <a:ext cx="1714500" cy="266700"/>
          </a:xfrm>
          <a:prstGeom prst="rect">
            <a:avLst/>
          </a:prstGeom>
          <a:solidFill>
            <a:srgbClr val="B91C1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BA7AC61D-C227-4570-AE2B-29B8279B7DB9}"/>
              </a:ext>
            </a:extLst>
          </p:cNvPr>
          <p:cNvSpPr>
            <a:spLocks noGrp="1"/>
          </p:cNvSpPr>
          <p:nvPr/>
        </p:nvSpPr>
        <p:spPr>
          <a:xfrm>
            <a:off x="5753100" y="4781550"/>
            <a:ext cx="5143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B91C1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91C1C"/>
                </a:solidFill>
                <a:latin typeface="Aptos"/>
                <a:ea typeface="Aptos"/>
                <a:cs typeface="Aptos"/>
              </a:rPr>
              <a:t>x2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9B90DF17-D7F5-4F0E-A6AF-03B352308221}"/>
              </a:ext>
            </a:extLst>
          </p:cNvPr>
          <p:cNvSpPr>
            <a:spLocks noGrp="1"/>
          </p:cNvSpPr>
          <p:nvPr/>
        </p:nvSpPr>
        <p:spPr>
          <a:xfrm>
            <a:off x="3905250" y="5162550"/>
            <a:ext cx="4286250" cy="9525"/>
          </a:xfrm>
          <a:prstGeom prst="rect">
            <a:avLst/>
          </a:prstGeom>
          <a:solidFill>
            <a:srgbClr val="D8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2F0B9B7A-6EBC-4165-97AE-DE1A3EF14776}"/>
              </a:ext>
            </a:extLst>
          </p:cNvPr>
          <p:cNvSpPr>
            <a:spLocks noGrp="1"/>
          </p:cNvSpPr>
          <p:nvPr/>
        </p:nvSpPr>
        <p:spPr>
          <a:xfrm>
            <a:off x="8001000" y="2609850"/>
            <a:ext cx="2724150" cy="2247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8E10E214-331F-418C-A96F-ABB9841EE949}"/>
              </a:ext>
            </a:extLst>
          </p:cNvPr>
          <p:cNvSpPr>
            <a:spLocks noGrp="1"/>
          </p:cNvSpPr>
          <p:nvPr/>
        </p:nvSpPr>
        <p:spPr>
          <a:xfrm>
            <a:off x="8229600" y="2838450"/>
            <a:ext cx="2228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Что меняется в выдаче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1A820628-311A-41F6-8486-181DE8832E64}"/>
              </a:ext>
            </a:extLst>
          </p:cNvPr>
          <p:cNvSpPr>
            <a:spLocks noGrp="1"/>
          </p:cNvSpPr>
          <p:nvPr/>
        </p:nvSpPr>
        <p:spPr>
          <a:xfrm>
            <a:off x="8229600" y="3257550"/>
            <a:ext cx="2190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Если слово найдено в названии, документ получает более сильный сигнал, чем если слово мелькнуло глубоко в описании.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29EF0DA9-0982-4FD1-AD27-DA9DEBA91F84}"/>
              </a:ext>
            </a:extLst>
          </p:cNvPr>
          <p:cNvSpPr>
            <a:spLocks noGrp="1"/>
          </p:cNvSpPr>
          <p:nvPr/>
        </p:nvSpPr>
        <p:spPr>
          <a:xfrm>
            <a:off x="8229600" y="40957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Если совпала фраза, результат поднимается выше одиночных совпадений.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41BD3B54-B204-4DDC-8381-E123189D9A72}"/>
              </a:ext>
            </a:extLst>
          </p:cNvPr>
          <p:cNvSpPr>
            <a:spLocks noGrp="1"/>
          </p:cNvSpPr>
          <p:nvPr/>
        </p:nvSpPr>
        <p:spPr>
          <a:xfrm>
            <a:off x="933450" y="5467350"/>
            <a:ext cx="9791700" cy="361950"/>
          </a:xfrm>
          <a:prstGeom prst="rect">
            <a:avLst/>
          </a:prstGeom>
          <a:solidFill>
            <a:srgbClr val="FEF3C7"/>
          </a:solidFill>
          <a:ln w="9525">
            <a:solidFill>
              <a:srgbClr val="FCD34D"/>
            </a:solidFill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338D7940-DF98-48E9-A6DE-07EEFE925E73}"/>
              </a:ext>
            </a:extLst>
          </p:cNvPr>
          <p:cNvSpPr>
            <a:spLocks noGrp="1"/>
          </p:cNvSpPr>
          <p:nvPr/>
        </p:nvSpPr>
        <p:spPr>
          <a:xfrm>
            <a:off x="1143000" y="5572125"/>
            <a:ext cx="9372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92400E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92400E"/>
                </a:solidFill>
                <a:latin typeface="Aptos"/>
                <a:ea typeface="Aptos"/>
                <a:cs typeface="Aptos"/>
              </a:rPr>
              <a:t>Simple search сортирует по `ratingBall`; Elasticsearch сначала оценивает текстовую релевантность, затем приложение добирает полные записи.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C523FFA6-24A5-4E03-B31B-7F50DA9ACA4B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E2B55BA0-FC72-4A5C-913C-6A35B7670816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9144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8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58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MovieElasticsearchRepository.java:10-43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BE73E531-DBC4-40F2-973A-D49E739CBCD7}"/>
              </a:ext>
            </a:extLst>
          </p:cNvPr>
          <p:cNvSpPr>
            <a:spLocks noGrp="1"/>
          </p:cNvSpPr>
          <p:nvPr/>
        </p:nvSpPr>
        <p:spPr>
          <a:xfrm>
            <a:off x="11201400" y="65151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B7280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B7280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93586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A7D2A12F-1D01-4DD2-9893-ADD4A365D1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9-marker">
            <a:extLst>
              <a:ext uri="{FF2B5EF4-FFF2-40B4-BE49-F238E27FC236}">
                <a16:creationId xmlns:a16="http://schemas.microsoft.com/office/drawing/2014/main" id="{29EA074E-5615-4628-A835-27590F5BE97C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95250" cy="952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9-label">
            <a:extLst>
              <a:ext uri="{FF2B5EF4-FFF2-40B4-BE49-F238E27FC236}">
                <a16:creationId xmlns:a16="http://schemas.microsoft.com/office/drawing/2014/main" id="{58A651EE-1457-4D4B-B20E-2CAAE3533680}"/>
              </a:ext>
            </a:extLst>
          </p:cNvPr>
          <p:cNvSpPr>
            <a:spLocks noGrp="1"/>
          </p:cNvSpPr>
          <p:nvPr/>
        </p:nvSpPr>
        <p:spPr>
          <a:xfrm>
            <a:off x="762000" y="4191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COST MODEL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FE54FFE-0F9A-4345-BF0C-72DB5F0EA2DC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82867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Индекс ищет документы через термины, а не строки через подстроки.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880925D-A6FA-4D17-8CAE-F8A6AF0E5769}"/>
              </a:ext>
            </a:extLst>
          </p:cNvPr>
          <p:cNvSpPr>
            <a:spLocks noGrp="1"/>
          </p:cNvSpPr>
          <p:nvPr/>
        </p:nvSpPr>
        <p:spPr>
          <a:xfrm>
            <a:off x="571500" y="1600200"/>
            <a:ext cx="781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Это концептуальная иллюстрация: в проекте нет benchmark-измерений, но сама структура работы у LIKE и inverted index разная.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B4A1103-80E7-4FB3-9067-AE210396F11D}"/>
              </a:ext>
            </a:extLst>
          </p:cNvPr>
          <p:cNvSpPr>
            <a:spLocks noGrp="1"/>
          </p:cNvSpPr>
          <p:nvPr/>
        </p:nvSpPr>
        <p:spPr>
          <a:xfrm>
            <a:off x="704850" y="2495550"/>
            <a:ext cx="4381500" cy="419100"/>
          </a:xfrm>
          <a:prstGeom prst="rect">
            <a:avLst/>
          </a:prstGeom>
          <a:solidFill>
            <a:srgbClr val="DBEAFE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F74E0B5-C701-4542-AAD8-67D25832F44A}"/>
              </a:ext>
            </a:extLst>
          </p:cNvPr>
          <p:cNvSpPr>
            <a:spLocks noGrp="1"/>
          </p:cNvSpPr>
          <p:nvPr/>
        </p:nvSpPr>
        <p:spPr>
          <a:xfrm>
            <a:off x="800100" y="2571750"/>
            <a:ext cx="4191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Row scan / LIKE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536FAA2-4480-4C96-AD88-FD6BDB67633A}"/>
              </a:ext>
            </a:extLst>
          </p:cNvPr>
          <p:cNvSpPr>
            <a:spLocks noGrp="1"/>
          </p:cNvSpPr>
          <p:nvPr/>
        </p:nvSpPr>
        <p:spPr>
          <a:xfrm>
            <a:off x="6800850" y="2495550"/>
            <a:ext cx="4381500" cy="419100"/>
          </a:xfrm>
          <a:prstGeom prst="rect">
            <a:avLst/>
          </a:prstGeom>
          <a:solidFill>
            <a:srgbClr val="CCFBF1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7BE29EC-A19B-4DC9-B31C-6F7FEDB6A8B2}"/>
              </a:ext>
            </a:extLst>
          </p:cNvPr>
          <p:cNvSpPr>
            <a:spLocks noGrp="1"/>
          </p:cNvSpPr>
          <p:nvPr/>
        </p:nvSpPr>
        <p:spPr>
          <a:xfrm>
            <a:off x="6896100" y="2571750"/>
            <a:ext cx="4191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Inverted index / Elasticsearch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5DFE7BE-DCD5-4A00-AFDA-4CCDC6F866B7}"/>
              </a:ext>
            </a:extLst>
          </p:cNvPr>
          <p:cNvSpPr>
            <a:spLocks noGrp="1"/>
          </p:cNvSpPr>
          <p:nvPr/>
        </p:nvSpPr>
        <p:spPr>
          <a:xfrm>
            <a:off x="990600" y="3143250"/>
            <a:ext cx="36195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AA2A578-6ECD-4BC2-BF50-B109F0C96467}"/>
              </a:ext>
            </a:extLst>
          </p:cNvPr>
          <p:cNvSpPr>
            <a:spLocks noGrp="1"/>
          </p:cNvSpPr>
          <p:nvPr/>
        </p:nvSpPr>
        <p:spPr>
          <a:xfrm>
            <a:off x="1143000" y="3219450"/>
            <a:ext cx="31432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movie row 01  |  title + overview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EB0558B-86D6-45CD-813A-31368E9D6618}"/>
              </a:ext>
            </a:extLst>
          </p:cNvPr>
          <p:cNvSpPr>
            <a:spLocks noGrp="1"/>
          </p:cNvSpPr>
          <p:nvPr/>
        </p:nvSpPr>
        <p:spPr>
          <a:xfrm>
            <a:off x="990600" y="3581400"/>
            <a:ext cx="36195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352ADAB-0769-472E-A351-FABB123E611C}"/>
              </a:ext>
            </a:extLst>
          </p:cNvPr>
          <p:cNvSpPr>
            <a:spLocks noGrp="1"/>
          </p:cNvSpPr>
          <p:nvPr/>
        </p:nvSpPr>
        <p:spPr>
          <a:xfrm>
            <a:off x="1143000" y="3657600"/>
            <a:ext cx="31432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movie row 02  |  title + overview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78F6B08-8B74-48E1-BF3E-E071B149573F}"/>
              </a:ext>
            </a:extLst>
          </p:cNvPr>
          <p:cNvSpPr>
            <a:spLocks noGrp="1"/>
          </p:cNvSpPr>
          <p:nvPr/>
        </p:nvSpPr>
        <p:spPr>
          <a:xfrm>
            <a:off x="990600" y="4019550"/>
            <a:ext cx="3619500" cy="285750"/>
          </a:xfrm>
          <a:prstGeom prst="rect">
            <a:avLst/>
          </a:prstGeom>
          <a:solidFill>
            <a:srgbClr val="DBEAFE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386CF5C-7529-43CB-90F9-6D48ACFAE115}"/>
              </a:ext>
            </a:extLst>
          </p:cNvPr>
          <p:cNvSpPr>
            <a:spLocks noGrp="1"/>
          </p:cNvSpPr>
          <p:nvPr/>
        </p:nvSpPr>
        <p:spPr>
          <a:xfrm>
            <a:off x="1143000" y="4095750"/>
            <a:ext cx="31432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2563EB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2563EB"/>
                </a:solidFill>
                <a:latin typeface="Aptos Mono"/>
                <a:ea typeface="Aptos Mono"/>
                <a:cs typeface="Aptos Mono"/>
              </a:rPr>
              <a:t>movie row 03  |  title + overview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BCB4364-BC0A-4D0E-8157-AA3E72804E8A}"/>
              </a:ext>
            </a:extLst>
          </p:cNvPr>
          <p:cNvSpPr>
            <a:spLocks noGrp="1"/>
          </p:cNvSpPr>
          <p:nvPr/>
        </p:nvSpPr>
        <p:spPr>
          <a:xfrm>
            <a:off x="990600" y="4457700"/>
            <a:ext cx="36195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1F83519-7E3A-4405-920A-5441F34DC762}"/>
              </a:ext>
            </a:extLst>
          </p:cNvPr>
          <p:cNvSpPr>
            <a:spLocks noGrp="1"/>
          </p:cNvSpPr>
          <p:nvPr/>
        </p:nvSpPr>
        <p:spPr>
          <a:xfrm>
            <a:off x="1143000" y="4533900"/>
            <a:ext cx="31432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movie row 04  |  title + overview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010B605A-8567-4B1C-8659-59D4F20CD6F6}"/>
              </a:ext>
            </a:extLst>
          </p:cNvPr>
          <p:cNvSpPr>
            <a:spLocks noGrp="1"/>
          </p:cNvSpPr>
          <p:nvPr/>
        </p:nvSpPr>
        <p:spPr>
          <a:xfrm>
            <a:off x="990600" y="4895850"/>
            <a:ext cx="361950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274E24E7-6081-43F1-ACA0-E03DA47EF6B8}"/>
              </a:ext>
            </a:extLst>
          </p:cNvPr>
          <p:cNvSpPr>
            <a:spLocks noGrp="1"/>
          </p:cNvSpPr>
          <p:nvPr/>
        </p:nvSpPr>
        <p:spPr>
          <a:xfrm>
            <a:off x="1143000" y="4972050"/>
            <a:ext cx="31432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B7280"/>
                </a:solidFill>
                <a:latin typeface="Aptos Mono"/>
                <a:ea typeface="Aptos Mono"/>
                <a:cs typeface="Aptos Mono"/>
              </a:defRPr>
            </a:pPr>
            <a:r>
              <a:rPr sz="788" b="0">
                <a:solidFill>
                  <a:srgbClr val="6B7280"/>
                </a:solidFill>
                <a:latin typeface="Aptos Mono"/>
                <a:ea typeface="Aptos Mono"/>
                <a:cs typeface="Aptos Mono"/>
              </a:rPr>
              <a:t>movie row 05  |  title + overview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047E524E-B82D-4FF1-ADD1-C482FAA83452}"/>
              </a:ext>
            </a:extLst>
          </p:cNvPr>
          <p:cNvSpPr>
            <a:spLocks noGrp="1"/>
          </p:cNvSpPr>
          <p:nvPr/>
        </p:nvSpPr>
        <p:spPr>
          <a:xfrm>
            <a:off x="1143000" y="5543550"/>
            <a:ext cx="3143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Проверяем каждую строку на наличие подстроки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AE4ED870-26E6-4EC8-8498-8D3D69A63EEA}"/>
              </a:ext>
            </a:extLst>
          </p:cNvPr>
          <p:cNvSpPr>
            <a:spLocks noGrp="1"/>
          </p:cNvSpPr>
          <p:nvPr/>
        </p:nvSpPr>
        <p:spPr>
          <a:xfrm>
            <a:off x="7181850" y="3200400"/>
            <a:ext cx="12382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F412892-9C72-46AD-AC60-46B30FBF7017}"/>
              </a:ext>
            </a:extLst>
          </p:cNvPr>
          <p:cNvSpPr>
            <a:spLocks noGrp="1"/>
          </p:cNvSpPr>
          <p:nvPr/>
        </p:nvSpPr>
        <p:spPr>
          <a:xfrm>
            <a:off x="7277100" y="3276600"/>
            <a:ext cx="1047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тюрьм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FBB5F461-C522-4A92-98EC-48A311D70A5E}"/>
              </a:ext>
            </a:extLst>
          </p:cNvPr>
          <p:cNvSpPr>
            <a:spLocks noGrp="1"/>
          </p:cNvSpPr>
          <p:nvPr/>
        </p:nvSpPr>
        <p:spPr>
          <a:xfrm>
            <a:off x="8420100" y="3200400"/>
            <a:ext cx="23812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4EF4BEF0-4085-4E2C-B9CA-3ADD37B25751}"/>
              </a:ext>
            </a:extLst>
          </p:cNvPr>
          <p:cNvSpPr>
            <a:spLocks noGrp="1"/>
          </p:cNvSpPr>
          <p:nvPr/>
        </p:nvSpPr>
        <p:spPr>
          <a:xfrm>
            <a:off x="8515350" y="3276600"/>
            <a:ext cx="2190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326, 435, 329, ...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8F5DDA7A-755E-4381-8AB1-A84CC5082E20}"/>
              </a:ext>
            </a:extLst>
          </p:cNvPr>
          <p:cNvSpPr>
            <a:spLocks noGrp="1"/>
          </p:cNvSpPr>
          <p:nvPr/>
        </p:nvSpPr>
        <p:spPr>
          <a:xfrm>
            <a:off x="7181850" y="3733800"/>
            <a:ext cx="12382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B01FA66D-698F-4C2D-A287-87773A67A5CD}"/>
              </a:ext>
            </a:extLst>
          </p:cNvPr>
          <p:cNvSpPr>
            <a:spLocks noGrp="1"/>
          </p:cNvSpPr>
          <p:nvPr/>
        </p:nvSpPr>
        <p:spPr>
          <a:xfrm>
            <a:off x="7277100" y="3810000"/>
            <a:ext cx="1047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корол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C4343A05-5CE6-47A6-91E3-8814B3B6D9BE}"/>
              </a:ext>
            </a:extLst>
          </p:cNvPr>
          <p:cNvSpPr>
            <a:spLocks noGrp="1"/>
          </p:cNvSpPr>
          <p:nvPr/>
        </p:nvSpPr>
        <p:spPr>
          <a:xfrm>
            <a:off x="8420100" y="3733800"/>
            <a:ext cx="23812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5E11F071-FEA3-46EA-870A-6859408ADDA6}"/>
              </a:ext>
            </a:extLst>
          </p:cNvPr>
          <p:cNvSpPr>
            <a:spLocks noGrp="1"/>
          </p:cNvSpPr>
          <p:nvPr/>
        </p:nvSpPr>
        <p:spPr>
          <a:xfrm>
            <a:off x="8515350" y="3810000"/>
            <a:ext cx="2190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2360, 464, ...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F65D8ED2-FB15-473F-B7DD-CB29C563DC88}"/>
              </a:ext>
            </a:extLst>
          </p:cNvPr>
          <p:cNvSpPr>
            <a:spLocks noGrp="1"/>
          </p:cNvSpPr>
          <p:nvPr/>
        </p:nvSpPr>
        <p:spPr>
          <a:xfrm>
            <a:off x="7181850" y="4267200"/>
            <a:ext cx="12382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173B1E05-8904-47BC-9FD2-8EC7B4C3C6C4}"/>
              </a:ext>
            </a:extLst>
          </p:cNvPr>
          <p:cNvSpPr>
            <a:spLocks noGrp="1"/>
          </p:cNvSpPr>
          <p:nvPr/>
        </p:nvSpPr>
        <p:spPr>
          <a:xfrm>
            <a:off x="7277100" y="4343400"/>
            <a:ext cx="1047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войн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00DE99E5-FAFD-463A-AC76-CE5407325249}"/>
              </a:ext>
            </a:extLst>
          </p:cNvPr>
          <p:cNvSpPr>
            <a:spLocks noGrp="1"/>
          </p:cNvSpPr>
          <p:nvPr/>
        </p:nvSpPr>
        <p:spPr>
          <a:xfrm>
            <a:off x="8420100" y="4267200"/>
            <a:ext cx="23812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4F519A1E-7D57-407C-838B-3C46EE25C289}"/>
              </a:ext>
            </a:extLst>
          </p:cNvPr>
          <p:cNvSpPr>
            <a:spLocks noGrp="1"/>
          </p:cNvSpPr>
          <p:nvPr/>
        </p:nvSpPr>
        <p:spPr>
          <a:xfrm>
            <a:off x="8515350" y="4343400"/>
            <a:ext cx="2190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448, 329, 258, ...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D1335C8-BC5A-465B-A6CD-5EDA69B32327}"/>
              </a:ext>
            </a:extLst>
          </p:cNvPr>
          <p:cNvSpPr>
            <a:spLocks noGrp="1"/>
          </p:cNvSpPr>
          <p:nvPr/>
        </p:nvSpPr>
        <p:spPr>
          <a:xfrm>
            <a:off x="7181850" y="4800600"/>
            <a:ext cx="12382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2DFD14ED-26B2-4C5F-B0F8-0386C2653F03}"/>
              </a:ext>
            </a:extLst>
          </p:cNvPr>
          <p:cNvSpPr>
            <a:spLocks noGrp="1"/>
          </p:cNvSpPr>
          <p:nvPr/>
        </p:nvSpPr>
        <p:spPr>
          <a:xfrm>
            <a:off x="7277100" y="4876800"/>
            <a:ext cx="1047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любов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5C498C76-D3B7-4EED-8AAB-2BABE248431E}"/>
              </a:ext>
            </a:extLst>
          </p:cNvPr>
          <p:cNvSpPr>
            <a:spLocks noGrp="1"/>
          </p:cNvSpPr>
          <p:nvPr/>
        </p:nvSpPr>
        <p:spPr>
          <a:xfrm>
            <a:off x="8420100" y="4800600"/>
            <a:ext cx="23812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9A3DB3CE-248D-41E3-9606-EB0E2A489D76}"/>
              </a:ext>
            </a:extLst>
          </p:cNvPr>
          <p:cNvSpPr>
            <a:spLocks noGrp="1"/>
          </p:cNvSpPr>
          <p:nvPr/>
        </p:nvSpPr>
        <p:spPr>
          <a:xfrm>
            <a:off x="8515350" y="4876800"/>
            <a:ext cx="2190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389, 448, 435, ...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27493493-2C6E-40E4-8DD9-FB1D0117D7F7}"/>
              </a:ext>
            </a:extLst>
          </p:cNvPr>
          <p:cNvSpPr>
            <a:spLocks noGrp="1"/>
          </p:cNvSpPr>
          <p:nvPr/>
        </p:nvSpPr>
        <p:spPr>
          <a:xfrm>
            <a:off x="7181850" y="5334000"/>
            <a:ext cx="3619500" cy="9525"/>
          </a:xfrm>
          <a:prstGeom prst="rect">
            <a:avLst/>
          </a:prstGeom>
          <a:solidFill>
            <a:srgbClr val="D8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2FD2F01A-7443-4715-919C-14E79B5524E4}"/>
              </a:ext>
            </a:extLst>
          </p:cNvPr>
          <p:cNvSpPr>
            <a:spLocks noGrp="1"/>
          </p:cNvSpPr>
          <p:nvPr/>
        </p:nvSpPr>
        <p:spPr>
          <a:xfrm>
            <a:off x="7334250" y="5543550"/>
            <a:ext cx="3333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Сначала находим posting list термина, затем считаем score документов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1D48DED0-21A4-4FF4-B227-25587E70B0E8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9B4E7378-B2A6-433A-AFF4-5431AB99F855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9144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8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58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Источник: локальный репозиторий MovieSearch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ADC838BF-5A2C-4726-BDCC-7AF37595B736}"/>
              </a:ext>
            </a:extLst>
          </p:cNvPr>
          <p:cNvSpPr>
            <a:spLocks noGrp="1"/>
          </p:cNvSpPr>
          <p:nvPr/>
        </p:nvSpPr>
        <p:spPr>
          <a:xfrm>
            <a:off x="11201400" y="65151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B7280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B7280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43688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E68A7102-1B7C-4733-ABC1-F07A483659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>
              <a:ext uri="{FF2B5EF4-FFF2-40B4-BE49-F238E27FC236}">
                <a16:creationId xmlns:a16="http://schemas.microsoft.com/office/drawing/2014/main" id="{AF71AB1A-6330-43F7-AC87-F89510A3C117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95250" cy="952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>
              <a:ext uri="{FF2B5EF4-FFF2-40B4-BE49-F238E27FC236}">
                <a16:creationId xmlns:a16="http://schemas.microsoft.com/office/drawing/2014/main" id="{C80F6887-4A1E-4E3E-8389-F31648A0CD05}"/>
              </a:ext>
            </a:extLst>
          </p:cNvPr>
          <p:cNvSpPr>
            <a:spLocks noGrp="1"/>
          </p:cNvSpPr>
          <p:nvPr/>
        </p:nvSpPr>
        <p:spPr>
          <a:xfrm>
            <a:off x="762000" y="4191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ЦЕНА ВОЗМОЖНОСТЕЙ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1B4814F-19F8-4291-A25D-94A3ABA4A267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85725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Поисковый движок покупает качество ценой синхронизации и эксплуатации.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9CA29F7-4A05-48E6-8EE8-A96D2CAFA9FD}"/>
              </a:ext>
            </a:extLst>
          </p:cNvPr>
          <p:cNvSpPr>
            <a:spLocks noGrp="1"/>
          </p:cNvSpPr>
          <p:nvPr/>
        </p:nvSpPr>
        <p:spPr>
          <a:xfrm>
            <a:off x="571500" y="1638300"/>
            <a:ext cx="8382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В демо это один endpoint `/reindex`. В production это уже политика обновления индекса, retry, мониторинг, mapping migrations и план восстановления.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6E7BE91-F77E-47A2-8B0D-F97B9165C7D2}"/>
              </a:ext>
            </a:extLst>
          </p:cNvPr>
          <p:cNvSpPr>
            <a:spLocks noGrp="1"/>
          </p:cNvSpPr>
          <p:nvPr/>
        </p:nvSpPr>
        <p:spPr>
          <a:xfrm>
            <a:off x="1028700" y="2971800"/>
            <a:ext cx="1428750" cy="666750"/>
          </a:xfrm>
          <a:prstGeom prst="rect">
            <a:avLst/>
          </a:prstGeom>
          <a:solidFill>
            <a:srgbClr val="F9FAFB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A92E073-87B3-4C77-9554-87CD74B88B84}"/>
              </a:ext>
            </a:extLst>
          </p:cNvPr>
          <p:cNvSpPr>
            <a:spLocks noGrp="1"/>
          </p:cNvSpPr>
          <p:nvPr/>
        </p:nvSpPr>
        <p:spPr>
          <a:xfrm>
            <a:off x="1028700" y="2971800"/>
            <a:ext cx="1428750" cy="47625"/>
          </a:xfrm>
          <a:prstGeom prst="rect">
            <a:avLst/>
          </a:prstGeom>
          <a:solidFill>
            <a:srgbClr val="1580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9B75444-61D2-4A71-9D61-4460B77898FF}"/>
              </a:ext>
            </a:extLst>
          </p:cNvPr>
          <p:cNvSpPr>
            <a:spLocks noGrp="1"/>
          </p:cNvSpPr>
          <p:nvPr/>
        </p:nvSpPr>
        <p:spPr>
          <a:xfrm>
            <a:off x="1181100" y="3105150"/>
            <a:ext cx="11239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DB write</a:t>
            </a:r>
          </a:p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Movie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6C0C335-3378-4C7E-B9E9-42D902F81F7F}"/>
              </a:ext>
            </a:extLst>
          </p:cNvPr>
          <p:cNvSpPr>
            <a:spLocks noGrp="1"/>
          </p:cNvSpPr>
          <p:nvPr/>
        </p:nvSpPr>
        <p:spPr>
          <a:xfrm>
            <a:off x="3771900" y="2971800"/>
            <a:ext cx="1619250" cy="666750"/>
          </a:xfrm>
          <a:prstGeom prst="rect">
            <a:avLst/>
          </a:prstGeom>
          <a:solidFill>
            <a:srgbClr val="F9FAFB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9FA81F8-77C4-4D67-8B0E-BA6488FED3B7}"/>
              </a:ext>
            </a:extLst>
          </p:cNvPr>
          <p:cNvSpPr>
            <a:spLocks noGrp="1"/>
          </p:cNvSpPr>
          <p:nvPr/>
        </p:nvSpPr>
        <p:spPr>
          <a:xfrm>
            <a:off x="3771900" y="2971800"/>
            <a:ext cx="1619250" cy="47625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B35FDC0-3543-48F5-B82F-F2096DADF308}"/>
              </a:ext>
            </a:extLst>
          </p:cNvPr>
          <p:cNvSpPr>
            <a:spLocks noGrp="1"/>
          </p:cNvSpPr>
          <p:nvPr/>
        </p:nvSpPr>
        <p:spPr>
          <a:xfrm>
            <a:off x="3924300" y="3105150"/>
            <a:ext cx="1314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Index update</a:t>
            </a:r>
          </a:p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MovieDoc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7DDB99E-F9B0-4E32-943D-EB2FA0EE070D}"/>
              </a:ext>
            </a:extLst>
          </p:cNvPr>
          <p:cNvSpPr>
            <a:spLocks noGrp="1"/>
          </p:cNvSpPr>
          <p:nvPr/>
        </p:nvSpPr>
        <p:spPr>
          <a:xfrm>
            <a:off x="6705600" y="2971800"/>
            <a:ext cx="1714500" cy="666750"/>
          </a:xfrm>
          <a:prstGeom prst="rect">
            <a:avLst/>
          </a:prstGeom>
          <a:solidFill>
            <a:srgbClr val="F9FAFB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ABDEE3D-5867-44E8-A2F9-B02AD2953B56}"/>
              </a:ext>
            </a:extLst>
          </p:cNvPr>
          <p:cNvSpPr>
            <a:spLocks noGrp="1"/>
          </p:cNvSpPr>
          <p:nvPr/>
        </p:nvSpPr>
        <p:spPr>
          <a:xfrm>
            <a:off x="6705600" y="2971800"/>
            <a:ext cx="1714500" cy="4762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A4D4ACA-EC59-45EC-9820-7019670A22FB}"/>
              </a:ext>
            </a:extLst>
          </p:cNvPr>
          <p:cNvSpPr>
            <a:spLocks noGrp="1"/>
          </p:cNvSpPr>
          <p:nvPr/>
        </p:nvSpPr>
        <p:spPr>
          <a:xfrm>
            <a:off x="6858000" y="3105150"/>
            <a:ext cx="1409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Search read</a:t>
            </a:r>
          </a:p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movies_index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A3CB690-3D2B-42C8-B1FB-B29C03C51CFB}"/>
              </a:ext>
            </a:extLst>
          </p:cNvPr>
          <p:cNvSpPr>
            <a:spLocks noGrp="1"/>
          </p:cNvSpPr>
          <p:nvPr/>
        </p:nvSpPr>
        <p:spPr>
          <a:xfrm>
            <a:off x="9696450" y="2971800"/>
            <a:ext cx="1524000" cy="666750"/>
          </a:xfrm>
          <a:prstGeom prst="rect">
            <a:avLst/>
          </a:prstGeom>
          <a:solidFill>
            <a:srgbClr val="F9FAFB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F661876-6345-4F4F-8CDC-AD9CD366C00E}"/>
              </a:ext>
            </a:extLst>
          </p:cNvPr>
          <p:cNvSpPr>
            <a:spLocks noGrp="1"/>
          </p:cNvSpPr>
          <p:nvPr/>
        </p:nvSpPr>
        <p:spPr>
          <a:xfrm>
            <a:off x="9696450" y="2971800"/>
            <a:ext cx="152400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367F3A0-0FFA-44C8-95B5-3848A32A9E9E}"/>
              </a:ext>
            </a:extLst>
          </p:cNvPr>
          <p:cNvSpPr>
            <a:spLocks noGrp="1"/>
          </p:cNvSpPr>
          <p:nvPr/>
        </p:nvSpPr>
        <p:spPr>
          <a:xfrm>
            <a:off x="9848850" y="3105150"/>
            <a:ext cx="1219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Hydrate</a:t>
            </a:r>
          </a:p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findAllById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D1E19F5-B11D-44C0-96FB-EBCE960CC9D0}"/>
              </a:ext>
            </a:extLst>
          </p:cNvPr>
          <p:cNvSpPr>
            <a:spLocks noGrp="1"/>
          </p:cNvSpPr>
          <p:nvPr/>
        </p:nvSpPr>
        <p:spPr>
          <a:xfrm>
            <a:off x="2457450" y="3295650"/>
            <a:ext cx="1314450" cy="19050"/>
          </a:xfrm>
          <a:prstGeom prst="rect">
            <a:avLst/>
          </a:prstGeom>
          <a:solidFill>
            <a:srgbClr val="94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E65C924-E874-4B7F-B33A-87CAFECEB363}"/>
              </a:ext>
            </a:extLst>
          </p:cNvPr>
          <p:cNvSpPr>
            <a:spLocks noGrp="1"/>
          </p:cNvSpPr>
          <p:nvPr/>
        </p:nvSpPr>
        <p:spPr>
          <a:xfrm>
            <a:off x="3705225" y="3257550"/>
            <a:ext cx="66675" cy="95250"/>
          </a:xfrm>
          <a:prstGeom prst="rect">
            <a:avLst/>
          </a:prstGeom>
          <a:solidFill>
            <a:srgbClr val="94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74941B42-17B7-49D6-9245-1FFA8BD47101}"/>
              </a:ext>
            </a:extLst>
          </p:cNvPr>
          <p:cNvSpPr>
            <a:spLocks noGrp="1"/>
          </p:cNvSpPr>
          <p:nvPr/>
        </p:nvSpPr>
        <p:spPr>
          <a:xfrm>
            <a:off x="5391150" y="3295650"/>
            <a:ext cx="1314450" cy="19050"/>
          </a:xfrm>
          <a:prstGeom prst="rect">
            <a:avLst/>
          </a:prstGeom>
          <a:solidFill>
            <a:srgbClr val="94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3D96D40-C04E-4A0B-8557-F69981137A10}"/>
              </a:ext>
            </a:extLst>
          </p:cNvPr>
          <p:cNvSpPr>
            <a:spLocks noGrp="1"/>
          </p:cNvSpPr>
          <p:nvPr/>
        </p:nvSpPr>
        <p:spPr>
          <a:xfrm>
            <a:off x="6638925" y="3257550"/>
            <a:ext cx="66675" cy="95250"/>
          </a:xfrm>
          <a:prstGeom prst="rect">
            <a:avLst/>
          </a:prstGeom>
          <a:solidFill>
            <a:srgbClr val="94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64A1A29A-90C2-4E67-84D6-85CD26782687}"/>
              </a:ext>
            </a:extLst>
          </p:cNvPr>
          <p:cNvSpPr>
            <a:spLocks noGrp="1"/>
          </p:cNvSpPr>
          <p:nvPr/>
        </p:nvSpPr>
        <p:spPr>
          <a:xfrm>
            <a:off x="8420100" y="3295650"/>
            <a:ext cx="1276350" cy="19050"/>
          </a:xfrm>
          <a:prstGeom prst="rect">
            <a:avLst/>
          </a:prstGeom>
          <a:solidFill>
            <a:srgbClr val="94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AB685D3A-2C2C-4436-A321-C0E0BF944C46}"/>
              </a:ext>
            </a:extLst>
          </p:cNvPr>
          <p:cNvSpPr>
            <a:spLocks noGrp="1"/>
          </p:cNvSpPr>
          <p:nvPr/>
        </p:nvSpPr>
        <p:spPr>
          <a:xfrm>
            <a:off x="9629775" y="3257550"/>
            <a:ext cx="66675" cy="95250"/>
          </a:xfrm>
          <a:prstGeom prst="rect">
            <a:avLst/>
          </a:prstGeom>
          <a:solidFill>
            <a:srgbClr val="94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283ADB63-56CE-4A91-8AE0-EF0B373AD0E7}"/>
              </a:ext>
            </a:extLst>
          </p:cNvPr>
          <p:cNvSpPr>
            <a:spLocks noGrp="1"/>
          </p:cNvSpPr>
          <p:nvPr/>
        </p:nvSpPr>
        <p:spPr>
          <a:xfrm>
            <a:off x="1028700" y="4362450"/>
            <a:ext cx="4686300" cy="1295400"/>
          </a:xfrm>
          <a:prstGeom prst="rect">
            <a:avLst/>
          </a:prstGeom>
          <a:solidFill>
            <a:srgbClr val="1F2937"/>
          </a:solidFill>
          <a:ln w="9525">
            <a:solidFill>
              <a:srgbClr val="374151"/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CBCCA607-718B-41B1-A815-10E76A564882}"/>
              </a:ext>
            </a:extLst>
          </p:cNvPr>
          <p:cNvSpPr>
            <a:spLocks noGrp="1"/>
          </p:cNvSpPr>
          <p:nvPr/>
        </p:nvSpPr>
        <p:spPr>
          <a:xfrm>
            <a:off x="6534150" y="4362450"/>
            <a:ext cx="4686300" cy="1295400"/>
          </a:xfrm>
          <a:prstGeom prst="rect">
            <a:avLst/>
          </a:prstGeom>
          <a:solidFill>
            <a:srgbClr val="1F2937"/>
          </a:solidFill>
          <a:ln w="9525">
            <a:solidFill>
              <a:srgbClr val="374151"/>
            </a:solidFill>
            <a:prstDash val="solid"/>
          </a:ln>
        </p:spPr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61C6B53F-88C6-4849-8A69-C0EE8EF68CE9}"/>
              </a:ext>
            </a:extLst>
          </p:cNvPr>
          <p:cNvSpPr>
            <a:spLocks noGrp="1"/>
          </p:cNvSpPr>
          <p:nvPr/>
        </p:nvSpPr>
        <p:spPr>
          <a:xfrm>
            <a:off x="1257300" y="457200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9FA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9FAFB"/>
                </a:solidFill>
                <a:latin typeface="Aptos"/>
                <a:ea typeface="Aptos"/>
                <a:cs typeface="Aptos"/>
              </a:rPr>
              <a:t>Что добавляется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B81BC43D-A1F5-4D00-A8F0-7849BF5AC17A}"/>
              </a:ext>
            </a:extLst>
          </p:cNvPr>
          <p:cNvSpPr>
            <a:spLocks noGrp="1"/>
          </p:cNvSpPr>
          <p:nvPr/>
        </p:nvSpPr>
        <p:spPr>
          <a:xfrm>
            <a:off x="1257300" y="5000625"/>
            <a:ext cx="57150" cy="571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A39F5FF8-69AA-46D9-8B8C-DAA75175E8EE}"/>
              </a:ext>
            </a:extLst>
          </p:cNvPr>
          <p:cNvSpPr>
            <a:spLocks noGrp="1"/>
          </p:cNvSpPr>
          <p:nvPr/>
        </p:nvSpPr>
        <p:spPr>
          <a:xfrm>
            <a:off x="1428750" y="4933950"/>
            <a:ext cx="3543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индекс как копия части данных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C396A08B-B645-4C18-9388-BFB3D6C67A21}"/>
              </a:ext>
            </a:extLst>
          </p:cNvPr>
          <p:cNvSpPr>
            <a:spLocks noGrp="1"/>
          </p:cNvSpPr>
          <p:nvPr/>
        </p:nvSpPr>
        <p:spPr>
          <a:xfrm>
            <a:off x="1257300" y="5305425"/>
            <a:ext cx="57150" cy="571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26726149-2D2F-4249-A684-4C7BC68F67B0}"/>
              </a:ext>
            </a:extLst>
          </p:cNvPr>
          <p:cNvSpPr>
            <a:spLocks noGrp="1"/>
          </p:cNvSpPr>
          <p:nvPr/>
        </p:nvSpPr>
        <p:spPr>
          <a:xfrm>
            <a:off x="1428750" y="5238750"/>
            <a:ext cx="3543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риск устаревших результатов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FEBCBDB9-7B42-4EAF-8F4E-D0E3123E842B}"/>
              </a:ext>
            </a:extLst>
          </p:cNvPr>
          <p:cNvSpPr>
            <a:spLocks noGrp="1"/>
          </p:cNvSpPr>
          <p:nvPr/>
        </p:nvSpPr>
        <p:spPr>
          <a:xfrm>
            <a:off x="6762750" y="457200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9FA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9FAFB"/>
                </a:solidFill>
                <a:latin typeface="Aptos"/>
                <a:ea typeface="Aptos"/>
                <a:cs typeface="Aptos"/>
              </a:rPr>
              <a:t>Что остаётся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C8BFBCDE-ACA3-44F5-A223-A490ACBE410B}"/>
              </a:ext>
            </a:extLst>
          </p:cNvPr>
          <p:cNvSpPr>
            <a:spLocks noGrp="1"/>
          </p:cNvSpPr>
          <p:nvPr/>
        </p:nvSpPr>
        <p:spPr>
          <a:xfrm>
            <a:off x="6762750" y="5000625"/>
            <a:ext cx="57150" cy="571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6A2870BD-4B28-48FF-A953-FB481F551B23}"/>
              </a:ext>
            </a:extLst>
          </p:cNvPr>
          <p:cNvSpPr>
            <a:spLocks noGrp="1"/>
          </p:cNvSpPr>
          <p:nvPr/>
        </p:nvSpPr>
        <p:spPr>
          <a:xfrm>
            <a:off x="6934200" y="4933950"/>
            <a:ext cx="3543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PostgreSQL хранит полную правду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A4EB1A95-6539-4064-8B00-14A3CA70945B}"/>
              </a:ext>
            </a:extLst>
          </p:cNvPr>
          <p:cNvSpPr>
            <a:spLocks noGrp="1"/>
          </p:cNvSpPr>
          <p:nvPr/>
        </p:nvSpPr>
        <p:spPr>
          <a:xfrm>
            <a:off x="6762750" y="5305425"/>
            <a:ext cx="57150" cy="571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74B0B46D-4D86-4963-A2E3-0BAC5CF7A4B0}"/>
              </a:ext>
            </a:extLst>
          </p:cNvPr>
          <p:cNvSpPr>
            <a:spLocks noGrp="1"/>
          </p:cNvSpPr>
          <p:nvPr/>
        </p:nvSpPr>
        <p:spPr>
          <a:xfrm>
            <a:off x="6934200" y="5238750"/>
            <a:ext cx="3543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ES отвечает за поиск и порядок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E8C14A02-9F08-450F-9B41-802A67167A14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C47B3023-1507-4982-8038-1720CD423A14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9144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8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58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MovieIndexingService.java:22-34; docker-compose.yml: app + db + elasticsearch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49D1F96D-EADB-4CBD-881E-81AA1CC61CA3}"/>
              </a:ext>
            </a:extLst>
          </p:cNvPr>
          <p:cNvSpPr>
            <a:spLocks noGrp="1"/>
          </p:cNvSpPr>
          <p:nvPr/>
        </p:nvSpPr>
        <p:spPr>
          <a:xfrm>
            <a:off x="11201400" y="65151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B7280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B7280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31180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5814C278-2116-4DA0-818F-37B6626AAE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1-marker">
            <a:extLst>
              <a:ext uri="{FF2B5EF4-FFF2-40B4-BE49-F238E27FC236}">
                <a16:creationId xmlns:a16="http://schemas.microsoft.com/office/drawing/2014/main" id="{AC4B666E-17D6-4B05-82E8-A8E5C144A824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95250" cy="952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label">
            <a:extLst>
              <a:ext uri="{FF2B5EF4-FFF2-40B4-BE49-F238E27FC236}">
                <a16:creationId xmlns:a16="http://schemas.microsoft.com/office/drawing/2014/main" id="{6F0BBC15-C67F-471E-8922-B288F013CD9A}"/>
              </a:ext>
            </a:extLst>
          </p:cNvPr>
          <p:cNvSpPr>
            <a:spLocks noGrp="1"/>
          </p:cNvSpPr>
          <p:nvPr/>
        </p:nvSpPr>
        <p:spPr>
          <a:xfrm>
            <a:off x="762000" y="4191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СРАВНЕНИЕ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057E9EC-86DD-47B7-A95A-E8AC2D34DFCC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82867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Два подхода оптимизируют разные свойства системы.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4575F1A-8625-47CA-A6D5-3E89AA68605F}"/>
              </a:ext>
            </a:extLst>
          </p:cNvPr>
          <p:cNvSpPr>
            <a:spLocks noGrp="1"/>
          </p:cNvSpPr>
          <p:nvPr/>
        </p:nvSpPr>
        <p:spPr>
          <a:xfrm>
            <a:off x="571500" y="1638300"/>
            <a:ext cx="781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Поэтому вопрос не “что лучше вообще?”, а “какое поведение поиска уже требуется продукту?”.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8F7C22D-51EC-4BB6-ACFE-D1A416EA5F1F}"/>
              </a:ext>
            </a:extLst>
          </p:cNvPr>
          <p:cNvSpPr>
            <a:spLocks noGrp="1"/>
          </p:cNvSpPr>
          <p:nvPr/>
        </p:nvSpPr>
        <p:spPr>
          <a:xfrm>
            <a:off x="628650" y="2362200"/>
            <a:ext cx="2000250" cy="400050"/>
          </a:xfrm>
          <a:prstGeom prst="rect">
            <a:avLst/>
          </a:prstGeom>
          <a:solidFill>
            <a:srgbClr val="111827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5AC5398-288D-430B-B8D5-10D309C589BD}"/>
              </a:ext>
            </a:extLst>
          </p:cNvPr>
          <p:cNvSpPr>
            <a:spLocks noGrp="1"/>
          </p:cNvSpPr>
          <p:nvPr/>
        </p:nvSpPr>
        <p:spPr>
          <a:xfrm>
            <a:off x="723900" y="2438400"/>
            <a:ext cx="1809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F9FAF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9FAFB"/>
                </a:solidFill>
                <a:latin typeface="Aptos"/>
                <a:ea typeface="Aptos"/>
                <a:cs typeface="Aptos"/>
              </a:rPr>
              <a:t>Критерий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C11DA60-E5FF-4E9E-91A9-B9E976D3DABE}"/>
              </a:ext>
            </a:extLst>
          </p:cNvPr>
          <p:cNvSpPr>
            <a:spLocks noGrp="1"/>
          </p:cNvSpPr>
          <p:nvPr/>
        </p:nvSpPr>
        <p:spPr>
          <a:xfrm>
            <a:off x="2628900" y="2362200"/>
            <a:ext cx="4000500" cy="400050"/>
          </a:xfrm>
          <a:prstGeom prst="rect">
            <a:avLst/>
          </a:prstGeom>
          <a:solidFill>
            <a:srgbClr val="DBEAFE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AD7247C-F113-45EE-AA95-38AA0AE5C1A6}"/>
              </a:ext>
            </a:extLst>
          </p:cNvPr>
          <p:cNvSpPr>
            <a:spLocks noGrp="1"/>
          </p:cNvSpPr>
          <p:nvPr/>
        </p:nvSpPr>
        <p:spPr>
          <a:xfrm>
            <a:off x="2724150" y="2438400"/>
            <a:ext cx="3810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SQL LIKE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F9C62F4-1128-4074-BF1E-07E245BB8EF1}"/>
              </a:ext>
            </a:extLst>
          </p:cNvPr>
          <p:cNvSpPr>
            <a:spLocks noGrp="1"/>
          </p:cNvSpPr>
          <p:nvPr/>
        </p:nvSpPr>
        <p:spPr>
          <a:xfrm>
            <a:off x="6629400" y="2362200"/>
            <a:ext cx="4953000" cy="400050"/>
          </a:xfrm>
          <a:prstGeom prst="rect">
            <a:avLst/>
          </a:prstGeom>
          <a:solidFill>
            <a:srgbClr val="CCFBF1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DC7BCA8-99A7-4072-95AC-DEA94EE05B4B}"/>
              </a:ext>
            </a:extLst>
          </p:cNvPr>
          <p:cNvSpPr>
            <a:spLocks noGrp="1"/>
          </p:cNvSpPr>
          <p:nvPr/>
        </p:nvSpPr>
        <p:spPr>
          <a:xfrm>
            <a:off x="6724650" y="2438400"/>
            <a:ext cx="476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Elasticsearch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C5A50C8-723E-449F-A546-C393BCCC241D}"/>
              </a:ext>
            </a:extLst>
          </p:cNvPr>
          <p:cNvSpPr>
            <a:spLocks noGrp="1"/>
          </p:cNvSpPr>
          <p:nvPr/>
        </p:nvSpPr>
        <p:spPr>
          <a:xfrm>
            <a:off x="628650" y="2762250"/>
            <a:ext cx="2000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D9A4F59-FC81-4278-90A3-9B925377D0D2}"/>
              </a:ext>
            </a:extLst>
          </p:cNvPr>
          <p:cNvSpPr>
            <a:spLocks noGrp="1"/>
          </p:cNvSpPr>
          <p:nvPr/>
        </p:nvSpPr>
        <p:spPr>
          <a:xfrm>
            <a:off x="723900" y="28384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Модель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8915FF0-A19B-439B-B7EB-3CAB24D65376}"/>
              </a:ext>
            </a:extLst>
          </p:cNvPr>
          <p:cNvSpPr>
            <a:spLocks noGrp="1"/>
          </p:cNvSpPr>
          <p:nvPr/>
        </p:nvSpPr>
        <p:spPr>
          <a:xfrm>
            <a:off x="2628900" y="2762250"/>
            <a:ext cx="4000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ADD47AA-4FD1-4D7C-9765-C2B641299619}"/>
              </a:ext>
            </a:extLst>
          </p:cNvPr>
          <p:cNvSpPr>
            <a:spLocks noGrp="1"/>
          </p:cNvSpPr>
          <p:nvPr/>
        </p:nvSpPr>
        <p:spPr>
          <a:xfrm>
            <a:off x="2724150" y="2838450"/>
            <a:ext cx="3810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4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строка содержит подстроку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D564B08-DD3D-4FD4-A11A-C9ACF908394F}"/>
              </a:ext>
            </a:extLst>
          </p:cNvPr>
          <p:cNvSpPr>
            <a:spLocks noGrp="1"/>
          </p:cNvSpPr>
          <p:nvPr/>
        </p:nvSpPr>
        <p:spPr>
          <a:xfrm>
            <a:off x="6629400" y="2762250"/>
            <a:ext cx="49530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BBFA7155-5766-4EA3-ABE9-F58040AFD033}"/>
              </a:ext>
            </a:extLst>
          </p:cNvPr>
          <p:cNvSpPr>
            <a:spLocks noGrp="1"/>
          </p:cNvSpPr>
          <p:nvPr/>
        </p:nvSpPr>
        <p:spPr>
          <a:xfrm>
            <a:off x="6724650" y="2838450"/>
            <a:ext cx="476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4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документ получает score по терминам и полям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66204C81-0DB9-4278-AB04-88DDAF6108AD}"/>
              </a:ext>
            </a:extLst>
          </p:cNvPr>
          <p:cNvSpPr>
            <a:spLocks noGrp="1"/>
          </p:cNvSpPr>
          <p:nvPr/>
        </p:nvSpPr>
        <p:spPr>
          <a:xfrm>
            <a:off x="628650" y="3276600"/>
            <a:ext cx="2000250" cy="514350"/>
          </a:xfrm>
          <a:prstGeom prst="rect">
            <a:avLst/>
          </a:prstGeom>
          <a:solidFill>
            <a:srgbClr val="FBF8F1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AC5119A8-403A-4F6E-AE33-F05E2A02CB5B}"/>
              </a:ext>
            </a:extLst>
          </p:cNvPr>
          <p:cNvSpPr>
            <a:spLocks noGrp="1"/>
          </p:cNvSpPr>
          <p:nvPr/>
        </p:nvSpPr>
        <p:spPr>
          <a:xfrm>
            <a:off x="723900" y="335280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Язык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432C57EA-C592-416C-94AD-EB57A5B1C194}"/>
              </a:ext>
            </a:extLst>
          </p:cNvPr>
          <p:cNvSpPr>
            <a:spLocks noGrp="1"/>
          </p:cNvSpPr>
          <p:nvPr/>
        </p:nvSpPr>
        <p:spPr>
          <a:xfrm>
            <a:off x="2628900" y="3276600"/>
            <a:ext cx="4000500" cy="514350"/>
          </a:xfrm>
          <a:prstGeom prst="rect">
            <a:avLst/>
          </a:prstGeom>
          <a:solidFill>
            <a:srgbClr val="FBF8F1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B0ECDF8E-D2BB-4FF4-B961-C46AB15668C4}"/>
              </a:ext>
            </a:extLst>
          </p:cNvPr>
          <p:cNvSpPr>
            <a:spLocks noGrp="1"/>
          </p:cNvSpPr>
          <p:nvPr/>
        </p:nvSpPr>
        <p:spPr>
          <a:xfrm>
            <a:off x="2724150" y="3352800"/>
            <a:ext cx="3810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4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lower-case, но без analyzer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E158834-11EA-44B9-B2F5-7FF965C85493}"/>
              </a:ext>
            </a:extLst>
          </p:cNvPr>
          <p:cNvSpPr>
            <a:spLocks noGrp="1"/>
          </p:cNvSpPr>
          <p:nvPr/>
        </p:nvSpPr>
        <p:spPr>
          <a:xfrm>
            <a:off x="6629400" y="3276600"/>
            <a:ext cx="4953000" cy="514350"/>
          </a:xfrm>
          <a:prstGeom prst="rect">
            <a:avLst/>
          </a:prstGeom>
          <a:solidFill>
            <a:srgbClr val="FBF8F1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E655B6E1-AAC5-4281-9ADE-1B5C077A2902}"/>
              </a:ext>
            </a:extLst>
          </p:cNvPr>
          <p:cNvSpPr>
            <a:spLocks noGrp="1"/>
          </p:cNvSpPr>
          <p:nvPr/>
        </p:nvSpPr>
        <p:spPr>
          <a:xfrm>
            <a:off x="6724650" y="3352800"/>
            <a:ext cx="476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4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tokenizer + lowercase + russian stemmer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79555BA1-3C43-43CD-A096-873DDDF54218}"/>
              </a:ext>
            </a:extLst>
          </p:cNvPr>
          <p:cNvSpPr>
            <a:spLocks noGrp="1"/>
          </p:cNvSpPr>
          <p:nvPr/>
        </p:nvSpPr>
        <p:spPr>
          <a:xfrm>
            <a:off x="628650" y="3790950"/>
            <a:ext cx="2000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87F00E2A-1F7C-4121-A339-DBAFDBB786EA}"/>
              </a:ext>
            </a:extLst>
          </p:cNvPr>
          <p:cNvSpPr>
            <a:spLocks noGrp="1"/>
          </p:cNvSpPr>
          <p:nvPr/>
        </p:nvSpPr>
        <p:spPr>
          <a:xfrm>
            <a:off x="723900" y="38671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Ранжирование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6EFC97BA-4BA6-4331-A890-FC22FFFCE807}"/>
              </a:ext>
            </a:extLst>
          </p:cNvPr>
          <p:cNvSpPr>
            <a:spLocks noGrp="1"/>
          </p:cNvSpPr>
          <p:nvPr/>
        </p:nvSpPr>
        <p:spPr>
          <a:xfrm>
            <a:off x="2628900" y="3790950"/>
            <a:ext cx="4000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1CFF76D8-E95E-49AD-A26C-260BF69EA1EA}"/>
              </a:ext>
            </a:extLst>
          </p:cNvPr>
          <p:cNvSpPr>
            <a:spLocks noGrp="1"/>
          </p:cNvSpPr>
          <p:nvPr/>
        </p:nvSpPr>
        <p:spPr>
          <a:xfrm>
            <a:off x="2724150" y="3867150"/>
            <a:ext cx="3810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4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в коде: ORDER BY ratingBall DESC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4565A9C4-0078-4413-AE8F-29D80A291876}"/>
              </a:ext>
            </a:extLst>
          </p:cNvPr>
          <p:cNvSpPr>
            <a:spLocks noGrp="1"/>
          </p:cNvSpPr>
          <p:nvPr/>
        </p:nvSpPr>
        <p:spPr>
          <a:xfrm>
            <a:off x="6629400" y="3790950"/>
            <a:ext cx="49530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29DE4455-4D06-433B-A3D0-4834116812E4}"/>
              </a:ext>
            </a:extLst>
          </p:cNvPr>
          <p:cNvSpPr>
            <a:spLocks noGrp="1"/>
          </p:cNvSpPr>
          <p:nvPr/>
        </p:nvSpPr>
        <p:spPr>
          <a:xfrm>
            <a:off x="6724650" y="3867150"/>
            <a:ext cx="476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4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boosts: movie^4, overview^3, phrase boosts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94E5595A-E700-4BC8-BF08-017FCC6B4558}"/>
              </a:ext>
            </a:extLst>
          </p:cNvPr>
          <p:cNvSpPr>
            <a:spLocks noGrp="1"/>
          </p:cNvSpPr>
          <p:nvPr/>
        </p:nvSpPr>
        <p:spPr>
          <a:xfrm>
            <a:off x="628650" y="4305300"/>
            <a:ext cx="2000250" cy="514350"/>
          </a:xfrm>
          <a:prstGeom prst="rect">
            <a:avLst/>
          </a:prstGeom>
          <a:solidFill>
            <a:srgbClr val="FBF8F1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DBF987BA-6549-4516-921B-8623699FC2AE}"/>
              </a:ext>
            </a:extLst>
          </p:cNvPr>
          <p:cNvSpPr>
            <a:spLocks noGrp="1"/>
          </p:cNvSpPr>
          <p:nvPr/>
        </p:nvSpPr>
        <p:spPr>
          <a:xfrm>
            <a:off x="723900" y="438150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Данные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EDA05192-5996-474A-9A19-BC12BF6DF1F7}"/>
              </a:ext>
            </a:extLst>
          </p:cNvPr>
          <p:cNvSpPr>
            <a:spLocks noGrp="1"/>
          </p:cNvSpPr>
          <p:nvPr/>
        </p:nvSpPr>
        <p:spPr>
          <a:xfrm>
            <a:off x="2628900" y="4305300"/>
            <a:ext cx="4000500" cy="514350"/>
          </a:xfrm>
          <a:prstGeom prst="rect">
            <a:avLst/>
          </a:prstGeom>
          <a:solidFill>
            <a:srgbClr val="FBF8F1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5E85B3F0-0773-4D6B-ABDF-47F436920B97}"/>
              </a:ext>
            </a:extLst>
          </p:cNvPr>
          <p:cNvSpPr>
            <a:spLocks noGrp="1"/>
          </p:cNvSpPr>
          <p:nvPr/>
        </p:nvSpPr>
        <p:spPr>
          <a:xfrm>
            <a:off x="2724150" y="4381500"/>
            <a:ext cx="3810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4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одна таблица movies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AB1513B2-5670-4F6B-86A1-EC1BF1DC2409}"/>
              </a:ext>
            </a:extLst>
          </p:cNvPr>
          <p:cNvSpPr>
            <a:spLocks noGrp="1"/>
          </p:cNvSpPr>
          <p:nvPr/>
        </p:nvSpPr>
        <p:spPr>
          <a:xfrm>
            <a:off x="6629400" y="4305300"/>
            <a:ext cx="4953000" cy="514350"/>
          </a:xfrm>
          <a:prstGeom prst="rect">
            <a:avLst/>
          </a:prstGeom>
          <a:solidFill>
            <a:srgbClr val="FBF8F1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600C9682-AD99-4A9B-A7EA-BB21D30CB3EB}"/>
              </a:ext>
            </a:extLst>
          </p:cNvPr>
          <p:cNvSpPr>
            <a:spLocks noGrp="1"/>
          </p:cNvSpPr>
          <p:nvPr/>
        </p:nvSpPr>
        <p:spPr>
          <a:xfrm>
            <a:off x="6724650" y="4381500"/>
            <a:ext cx="476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4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индекс movies_index + добор Movie из БД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05DFA02E-6516-4CA8-B1BD-44CB92CC5BE0}"/>
              </a:ext>
            </a:extLst>
          </p:cNvPr>
          <p:cNvSpPr>
            <a:spLocks noGrp="1"/>
          </p:cNvSpPr>
          <p:nvPr/>
        </p:nvSpPr>
        <p:spPr>
          <a:xfrm>
            <a:off x="628650" y="4819650"/>
            <a:ext cx="200025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C4444125-959C-4299-9883-A6F1A0179FED}"/>
              </a:ext>
            </a:extLst>
          </p:cNvPr>
          <p:cNvSpPr>
            <a:spLocks noGrp="1"/>
          </p:cNvSpPr>
          <p:nvPr/>
        </p:nvSpPr>
        <p:spPr>
          <a:xfrm>
            <a:off x="723900" y="48958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Операции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7F4ECDF7-9E63-451F-9888-17D8D7111A4E}"/>
              </a:ext>
            </a:extLst>
          </p:cNvPr>
          <p:cNvSpPr>
            <a:spLocks noGrp="1"/>
          </p:cNvSpPr>
          <p:nvPr/>
        </p:nvSpPr>
        <p:spPr>
          <a:xfrm>
            <a:off x="2628900" y="4819650"/>
            <a:ext cx="4000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755DD564-F39F-4CD7-A85A-3745DBD034A6}"/>
              </a:ext>
            </a:extLst>
          </p:cNvPr>
          <p:cNvSpPr>
            <a:spLocks noGrp="1"/>
          </p:cNvSpPr>
          <p:nvPr/>
        </p:nvSpPr>
        <p:spPr>
          <a:xfrm>
            <a:off x="2724150" y="4895850"/>
            <a:ext cx="3810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4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проще запускать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020F90E9-F2FD-4206-95A1-C0CCF5CF9369}"/>
              </a:ext>
            </a:extLst>
          </p:cNvPr>
          <p:cNvSpPr>
            <a:spLocks noGrp="1"/>
          </p:cNvSpPr>
          <p:nvPr/>
        </p:nvSpPr>
        <p:spPr>
          <a:xfrm>
            <a:off x="6629400" y="4819650"/>
            <a:ext cx="49530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D67C0EEA-6AE7-4B9B-A4F2-CA8ECDC9B4EA}"/>
              </a:ext>
            </a:extLst>
          </p:cNvPr>
          <p:cNvSpPr>
            <a:spLocks noGrp="1"/>
          </p:cNvSpPr>
          <p:nvPr/>
        </p:nvSpPr>
        <p:spPr>
          <a:xfrm>
            <a:off x="6724650" y="4895850"/>
            <a:ext cx="476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4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нужны reindex, health, mapping, monitoring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578B8885-1F35-4B16-8606-3E5BA788F400}"/>
              </a:ext>
            </a:extLst>
          </p:cNvPr>
          <p:cNvSpPr>
            <a:spLocks noGrp="1"/>
          </p:cNvSpPr>
          <p:nvPr/>
        </p:nvSpPr>
        <p:spPr>
          <a:xfrm>
            <a:off x="628650" y="5334000"/>
            <a:ext cx="2000250" cy="514350"/>
          </a:xfrm>
          <a:prstGeom prst="rect">
            <a:avLst/>
          </a:prstGeom>
          <a:solidFill>
            <a:srgbClr val="FBF8F1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63D699D6-E073-480E-8875-06A6711A13DE}"/>
              </a:ext>
            </a:extLst>
          </p:cNvPr>
          <p:cNvSpPr>
            <a:spLocks noGrp="1"/>
          </p:cNvSpPr>
          <p:nvPr/>
        </p:nvSpPr>
        <p:spPr>
          <a:xfrm>
            <a:off x="723900" y="541020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Когда брать</a:t>
            </a: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8EE5C8C3-FB80-41FB-9617-746E616BF898}"/>
              </a:ext>
            </a:extLst>
          </p:cNvPr>
          <p:cNvSpPr>
            <a:spLocks noGrp="1"/>
          </p:cNvSpPr>
          <p:nvPr/>
        </p:nvSpPr>
        <p:spPr>
          <a:xfrm>
            <a:off x="2628900" y="5334000"/>
            <a:ext cx="4000500" cy="514350"/>
          </a:xfrm>
          <a:prstGeom prst="rect">
            <a:avLst/>
          </a:prstGeom>
          <a:solidFill>
            <a:srgbClr val="FBF8F1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78973563-A742-46B4-BB38-DF258DE35EB5}"/>
              </a:ext>
            </a:extLst>
          </p:cNvPr>
          <p:cNvSpPr>
            <a:spLocks noGrp="1"/>
          </p:cNvSpPr>
          <p:nvPr/>
        </p:nvSpPr>
        <p:spPr>
          <a:xfrm>
            <a:off x="2724150" y="5410200"/>
            <a:ext cx="3810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4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малые фильтры и точные совпадения</a:t>
            </a: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EB38AA2B-4DEA-49D4-B414-2BCEFD5B596B}"/>
              </a:ext>
            </a:extLst>
          </p:cNvPr>
          <p:cNvSpPr>
            <a:spLocks noGrp="1"/>
          </p:cNvSpPr>
          <p:nvPr/>
        </p:nvSpPr>
        <p:spPr>
          <a:xfrm>
            <a:off x="6629400" y="5334000"/>
            <a:ext cx="4953000" cy="514350"/>
          </a:xfrm>
          <a:prstGeom prst="rect">
            <a:avLst/>
          </a:prstGeom>
          <a:solidFill>
            <a:srgbClr val="FBF8F1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A9ED428C-C8EC-4988-9A40-AC36EA4CEF74}"/>
              </a:ext>
            </a:extLst>
          </p:cNvPr>
          <p:cNvSpPr>
            <a:spLocks noGrp="1"/>
          </p:cNvSpPr>
          <p:nvPr/>
        </p:nvSpPr>
        <p:spPr>
          <a:xfrm>
            <a:off x="6724650" y="5410200"/>
            <a:ext cx="476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4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4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продуктовый поиск, язык, масштаб, relevance</a:t>
            </a: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FD37425B-180B-4CEA-903E-C52265607C07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534E19BD-047A-4CFF-81C9-7CC436FB20F9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9144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8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58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Источник: локальный репозиторий MovieSearch</a:t>
            </a:r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0D3B8DA8-9671-49A5-BFCB-7709BBA30EBD}"/>
              </a:ext>
            </a:extLst>
          </p:cNvPr>
          <p:cNvSpPr>
            <a:spLocks noGrp="1"/>
          </p:cNvSpPr>
          <p:nvPr/>
        </p:nvSpPr>
        <p:spPr>
          <a:xfrm>
            <a:off x="11201400" y="65151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B7280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B7280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05469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4E396A2C-6411-43EA-9398-432D83865EF4}"/>
              </a:ext>
            </a:extLst>
          </p:cNvPr>
          <p:cNvSpPr>
            <a:spLocks noGrp="1"/>
          </p:cNvSpPr>
          <p:nvPr/>
        </p:nvSpPr>
        <p:spPr>
          <a:xfrm>
            <a:off x="0" y="2286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2-marker">
            <a:extLst>
              <a:ext uri="{FF2B5EF4-FFF2-40B4-BE49-F238E27FC236}">
                <a16:creationId xmlns:a16="http://schemas.microsoft.com/office/drawing/2014/main" id="{66BFD82B-4173-48CB-AA0B-A7D005C16FC6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95250" cy="952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label">
            <a:extLst>
              <a:ext uri="{FF2B5EF4-FFF2-40B4-BE49-F238E27FC236}">
                <a16:creationId xmlns:a16="http://schemas.microsoft.com/office/drawing/2014/main" id="{4F10E9D4-34E5-471A-8FEC-31A0444E91E8}"/>
              </a:ext>
            </a:extLst>
          </p:cNvPr>
          <p:cNvSpPr>
            <a:spLocks noGrp="1"/>
          </p:cNvSpPr>
          <p:nvPr/>
        </p:nvSpPr>
        <p:spPr>
          <a:xfrm>
            <a:off x="762000" y="4191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ДЕМО-СЦЕНАРИЙ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FA01DF-8E25-4C1F-8F9A-D849B890D169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82867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Показывать надо не только “работает”, а почему результаты другие.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3C39EC1-7BAF-4948-850B-F29927DB8712}"/>
              </a:ext>
            </a:extLst>
          </p:cNvPr>
          <p:cNvSpPr>
            <a:spLocks noGrp="1"/>
          </p:cNvSpPr>
          <p:nvPr/>
        </p:nvSpPr>
        <p:spPr>
          <a:xfrm>
            <a:off x="571500" y="1638300"/>
            <a:ext cx="781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Для 30-минутного рассказа достаточно 4 запросов: каждый подсвечивает отдельную грань — точность, морфологию, поле title/overview и фразовый boost.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88DEEC0-5602-42DB-962A-AE0BA9CF4D96}"/>
              </a:ext>
            </a:extLst>
          </p:cNvPr>
          <p:cNvSpPr>
            <a:spLocks noGrp="1"/>
          </p:cNvSpPr>
          <p:nvPr/>
        </p:nvSpPr>
        <p:spPr>
          <a:xfrm>
            <a:off x="800100" y="2438400"/>
            <a:ext cx="1524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77A2782-7A79-4A7E-AEB6-A015FD568BD4}"/>
              </a:ext>
            </a:extLst>
          </p:cNvPr>
          <p:cNvSpPr>
            <a:spLocks noGrp="1"/>
          </p:cNvSpPr>
          <p:nvPr/>
        </p:nvSpPr>
        <p:spPr>
          <a:xfrm>
            <a:off x="895350" y="2514600"/>
            <a:ext cx="1333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бойцовский клуб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30809D8-6827-4348-9EA9-5F0E11B498E5}"/>
              </a:ext>
            </a:extLst>
          </p:cNvPr>
          <p:cNvSpPr>
            <a:spLocks noGrp="1"/>
          </p:cNvSpPr>
          <p:nvPr/>
        </p:nvSpPr>
        <p:spPr>
          <a:xfrm>
            <a:off x="2324100" y="2438400"/>
            <a:ext cx="23812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45D8BAE-B3FD-4ECB-A111-565C5ED4CD8D}"/>
              </a:ext>
            </a:extLst>
          </p:cNvPr>
          <p:cNvSpPr>
            <a:spLocks noGrp="1"/>
          </p:cNvSpPr>
          <p:nvPr/>
        </p:nvSpPr>
        <p:spPr>
          <a:xfrm>
            <a:off x="2419350" y="2514600"/>
            <a:ext cx="2190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точная фраза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8F68D5E-68D0-4415-9175-F36B90694611}"/>
              </a:ext>
            </a:extLst>
          </p:cNvPr>
          <p:cNvSpPr>
            <a:spLocks noGrp="1"/>
          </p:cNvSpPr>
          <p:nvPr/>
        </p:nvSpPr>
        <p:spPr>
          <a:xfrm>
            <a:off x="4705350" y="2438400"/>
            <a:ext cx="4191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F6BD47E-2395-4D93-8242-4264BA98B8B7}"/>
              </a:ext>
            </a:extLst>
          </p:cNvPr>
          <p:cNvSpPr>
            <a:spLocks noGrp="1"/>
          </p:cNvSpPr>
          <p:nvPr/>
        </p:nvSpPr>
        <p:spPr>
          <a:xfrm>
            <a:off x="4800600" y="2514600"/>
            <a:ext cx="4000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должен поднять фильм с таким названием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33EFB33-F360-440F-A423-70F2784FD820}"/>
              </a:ext>
            </a:extLst>
          </p:cNvPr>
          <p:cNvSpPr>
            <a:spLocks noGrp="1"/>
          </p:cNvSpPr>
          <p:nvPr/>
        </p:nvSpPr>
        <p:spPr>
          <a:xfrm>
            <a:off x="9372600" y="2552700"/>
            <a:ext cx="990600" cy="228600"/>
          </a:xfrm>
          <a:prstGeom prst="rect">
            <a:avLst/>
          </a:prstGeom>
          <a:solidFill>
            <a:srgbClr val="DBEAFE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A533A0D-CC58-4FE2-8F3A-D2B6748F9CC4}"/>
              </a:ext>
            </a:extLst>
          </p:cNvPr>
          <p:cNvSpPr>
            <a:spLocks noGrp="1"/>
          </p:cNvSpPr>
          <p:nvPr/>
        </p:nvSpPr>
        <p:spPr>
          <a:xfrm>
            <a:off x="9486900" y="2619375"/>
            <a:ext cx="762000" cy="85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8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field weight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A65153F-96DE-469E-BD29-EB0AE4C01887}"/>
              </a:ext>
            </a:extLst>
          </p:cNvPr>
          <p:cNvSpPr>
            <a:spLocks noGrp="1"/>
          </p:cNvSpPr>
          <p:nvPr/>
        </p:nvSpPr>
        <p:spPr>
          <a:xfrm>
            <a:off x="9867900" y="2886075"/>
            <a:ext cx="0" cy="19050"/>
          </a:xfrm>
          <a:prstGeom prst="rect">
            <a:avLst/>
          </a:prstGeom>
          <a:solidFill>
            <a:srgbClr val="D8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819967F-F51A-4843-8743-C4E9FB9D3DD5}"/>
              </a:ext>
            </a:extLst>
          </p:cNvPr>
          <p:cNvSpPr>
            <a:spLocks noGrp="1"/>
          </p:cNvSpPr>
          <p:nvPr/>
        </p:nvSpPr>
        <p:spPr>
          <a:xfrm>
            <a:off x="9858375" y="2895600"/>
            <a:ext cx="19050" cy="266700"/>
          </a:xfrm>
          <a:prstGeom prst="rect">
            <a:avLst/>
          </a:prstGeom>
          <a:solidFill>
            <a:srgbClr val="D8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1469CDF-AA8B-47B6-A5CB-0E9CE16FD8B5}"/>
              </a:ext>
            </a:extLst>
          </p:cNvPr>
          <p:cNvSpPr>
            <a:spLocks noGrp="1"/>
          </p:cNvSpPr>
          <p:nvPr/>
        </p:nvSpPr>
        <p:spPr>
          <a:xfrm>
            <a:off x="9867900" y="3152775"/>
            <a:ext cx="0" cy="19050"/>
          </a:xfrm>
          <a:prstGeom prst="rect">
            <a:avLst/>
          </a:prstGeom>
          <a:solidFill>
            <a:srgbClr val="D8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E0D607B-0140-40D1-8F2C-3A0910633205}"/>
              </a:ext>
            </a:extLst>
          </p:cNvPr>
          <p:cNvSpPr>
            <a:spLocks noGrp="1"/>
          </p:cNvSpPr>
          <p:nvPr/>
        </p:nvSpPr>
        <p:spPr>
          <a:xfrm>
            <a:off x="9801225" y="3114675"/>
            <a:ext cx="66675" cy="95250"/>
          </a:xfrm>
          <a:prstGeom prst="rect">
            <a:avLst/>
          </a:prstGeom>
          <a:solidFill>
            <a:srgbClr val="D8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AC341AB-51C4-49D5-A02C-3B3B614CD5E7}"/>
              </a:ext>
            </a:extLst>
          </p:cNvPr>
          <p:cNvSpPr>
            <a:spLocks noGrp="1"/>
          </p:cNvSpPr>
          <p:nvPr/>
        </p:nvSpPr>
        <p:spPr>
          <a:xfrm>
            <a:off x="800100" y="3162300"/>
            <a:ext cx="1524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877E1C4A-24CE-4E72-856B-EA154C022F3E}"/>
              </a:ext>
            </a:extLst>
          </p:cNvPr>
          <p:cNvSpPr>
            <a:spLocks noGrp="1"/>
          </p:cNvSpPr>
          <p:nvPr/>
        </p:nvSpPr>
        <p:spPr>
          <a:xfrm>
            <a:off x="895350" y="3238500"/>
            <a:ext cx="1333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тюрьма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FB58960-2D64-40D3-8BEF-619C804135E9}"/>
              </a:ext>
            </a:extLst>
          </p:cNvPr>
          <p:cNvSpPr>
            <a:spLocks noGrp="1"/>
          </p:cNvSpPr>
          <p:nvPr/>
        </p:nvSpPr>
        <p:spPr>
          <a:xfrm>
            <a:off x="2324100" y="3162300"/>
            <a:ext cx="23812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8B7EC25-F871-4A9C-92A3-B7EBC6C53091}"/>
              </a:ext>
            </a:extLst>
          </p:cNvPr>
          <p:cNvSpPr>
            <a:spLocks noGrp="1"/>
          </p:cNvSpPr>
          <p:nvPr/>
        </p:nvSpPr>
        <p:spPr>
          <a:xfrm>
            <a:off x="2419350" y="3238500"/>
            <a:ext cx="2190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описание фильма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21E63F1-949C-45B6-B0FF-DD504343199D}"/>
              </a:ext>
            </a:extLst>
          </p:cNvPr>
          <p:cNvSpPr>
            <a:spLocks noGrp="1"/>
          </p:cNvSpPr>
          <p:nvPr/>
        </p:nvSpPr>
        <p:spPr>
          <a:xfrm>
            <a:off x="4705350" y="3162300"/>
            <a:ext cx="4191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B7E3FCD9-8336-4BE4-AE37-C3AC94E7951D}"/>
              </a:ext>
            </a:extLst>
          </p:cNvPr>
          <p:cNvSpPr>
            <a:spLocks noGrp="1"/>
          </p:cNvSpPr>
          <p:nvPr/>
        </p:nvSpPr>
        <p:spPr>
          <a:xfrm>
            <a:off x="4800600" y="3238500"/>
            <a:ext cx="4000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показывает поиск не только по названию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8B976FDE-6F42-4F1D-9390-AB8296DDBE73}"/>
              </a:ext>
            </a:extLst>
          </p:cNvPr>
          <p:cNvSpPr>
            <a:spLocks noGrp="1"/>
          </p:cNvSpPr>
          <p:nvPr/>
        </p:nvSpPr>
        <p:spPr>
          <a:xfrm>
            <a:off x="9372600" y="3276600"/>
            <a:ext cx="990600" cy="228600"/>
          </a:xfrm>
          <a:prstGeom prst="rect">
            <a:avLst/>
          </a:prstGeom>
          <a:solidFill>
            <a:srgbClr val="DBEAFE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BA3FD2F2-B8F8-4254-BF4B-9D1E44932C00}"/>
              </a:ext>
            </a:extLst>
          </p:cNvPr>
          <p:cNvSpPr>
            <a:spLocks noGrp="1"/>
          </p:cNvSpPr>
          <p:nvPr/>
        </p:nvSpPr>
        <p:spPr>
          <a:xfrm>
            <a:off x="9486900" y="3343275"/>
            <a:ext cx="762000" cy="85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8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field weight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25DFF51E-C48B-46BA-8755-62777DE8B697}"/>
              </a:ext>
            </a:extLst>
          </p:cNvPr>
          <p:cNvSpPr>
            <a:spLocks noGrp="1"/>
          </p:cNvSpPr>
          <p:nvPr/>
        </p:nvSpPr>
        <p:spPr>
          <a:xfrm>
            <a:off x="9867900" y="3609975"/>
            <a:ext cx="0" cy="19050"/>
          </a:xfrm>
          <a:prstGeom prst="rect">
            <a:avLst/>
          </a:prstGeom>
          <a:solidFill>
            <a:srgbClr val="D8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1FE83A8-6F0B-4E16-87B7-01C3CF334CB8}"/>
              </a:ext>
            </a:extLst>
          </p:cNvPr>
          <p:cNvSpPr>
            <a:spLocks noGrp="1"/>
          </p:cNvSpPr>
          <p:nvPr/>
        </p:nvSpPr>
        <p:spPr>
          <a:xfrm>
            <a:off x="9858375" y="3619500"/>
            <a:ext cx="19050" cy="266700"/>
          </a:xfrm>
          <a:prstGeom prst="rect">
            <a:avLst/>
          </a:prstGeom>
          <a:solidFill>
            <a:srgbClr val="D8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900E58E-91F8-4F8B-B0CE-E250D68D9845}"/>
              </a:ext>
            </a:extLst>
          </p:cNvPr>
          <p:cNvSpPr>
            <a:spLocks noGrp="1"/>
          </p:cNvSpPr>
          <p:nvPr/>
        </p:nvSpPr>
        <p:spPr>
          <a:xfrm>
            <a:off x="9867900" y="3876675"/>
            <a:ext cx="0" cy="19050"/>
          </a:xfrm>
          <a:prstGeom prst="rect">
            <a:avLst/>
          </a:prstGeom>
          <a:solidFill>
            <a:srgbClr val="D8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02D8C2B6-7030-4D79-B347-BF7883F8548F}"/>
              </a:ext>
            </a:extLst>
          </p:cNvPr>
          <p:cNvSpPr>
            <a:spLocks noGrp="1"/>
          </p:cNvSpPr>
          <p:nvPr/>
        </p:nvSpPr>
        <p:spPr>
          <a:xfrm>
            <a:off x="9801225" y="3838575"/>
            <a:ext cx="66675" cy="95250"/>
          </a:xfrm>
          <a:prstGeom prst="rect">
            <a:avLst/>
          </a:prstGeom>
          <a:solidFill>
            <a:srgbClr val="D8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51E900DD-EDD6-4B2E-B876-29189E422601}"/>
              </a:ext>
            </a:extLst>
          </p:cNvPr>
          <p:cNvSpPr>
            <a:spLocks noGrp="1"/>
          </p:cNvSpPr>
          <p:nvPr/>
        </p:nvSpPr>
        <p:spPr>
          <a:xfrm>
            <a:off x="800100" y="3886200"/>
            <a:ext cx="1524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05330CA7-D4D7-4580-A6A8-FC48E3BA62AD}"/>
              </a:ext>
            </a:extLst>
          </p:cNvPr>
          <p:cNvSpPr>
            <a:spLocks noGrp="1"/>
          </p:cNvSpPr>
          <p:nvPr/>
        </p:nvSpPr>
        <p:spPr>
          <a:xfrm>
            <a:off x="895350" y="3962400"/>
            <a:ext cx="1333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заключённые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C7601B60-5EA5-495C-8F7A-F7E543789B59}"/>
              </a:ext>
            </a:extLst>
          </p:cNvPr>
          <p:cNvSpPr>
            <a:spLocks noGrp="1"/>
          </p:cNvSpPr>
          <p:nvPr/>
        </p:nvSpPr>
        <p:spPr>
          <a:xfrm>
            <a:off x="2324100" y="3886200"/>
            <a:ext cx="23812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793B7404-2D7C-4B55-9E16-80D90D373EB4}"/>
              </a:ext>
            </a:extLst>
          </p:cNvPr>
          <p:cNvSpPr>
            <a:spLocks noGrp="1"/>
          </p:cNvSpPr>
          <p:nvPr/>
        </p:nvSpPr>
        <p:spPr>
          <a:xfrm>
            <a:off x="2419350" y="3962400"/>
            <a:ext cx="2190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форма слова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24815628-C23C-4718-AC6C-909CA5446124}"/>
              </a:ext>
            </a:extLst>
          </p:cNvPr>
          <p:cNvSpPr>
            <a:spLocks noGrp="1"/>
          </p:cNvSpPr>
          <p:nvPr/>
        </p:nvSpPr>
        <p:spPr>
          <a:xfrm>
            <a:off x="4705350" y="3886200"/>
            <a:ext cx="4191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ED449994-21E9-4368-8135-1CF5B4D86ED0}"/>
              </a:ext>
            </a:extLst>
          </p:cNvPr>
          <p:cNvSpPr>
            <a:spLocks noGrp="1"/>
          </p:cNvSpPr>
          <p:nvPr/>
        </p:nvSpPr>
        <p:spPr>
          <a:xfrm>
            <a:off x="4800600" y="3962400"/>
            <a:ext cx="4000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38" b="0" dirty="0" err="1">
                <a:solidFill>
                  <a:srgbClr val="6B7280"/>
                </a:solidFill>
                <a:latin typeface="Aptos"/>
                <a:ea typeface="Aptos"/>
                <a:cs typeface="Aptos"/>
              </a:rPr>
              <a:t>обсудить</a:t>
            </a:r>
            <a:r>
              <a:rPr sz="938" b="0" dirty="0">
                <a:solidFill>
                  <a:srgbClr val="6B7280"/>
                </a:solidFill>
                <a:latin typeface="Aptos"/>
                <a:ea typeface="Aptos"/>
                <a:cs typeface="Aptos"/>
              </a:rPr>
              <a:t> stemmer </a:t>
            </a:r>
            <a:r>
              <a:rPr sz="938" b="0" dirty="0" err="1">
                <a:solidFill>
                  <a:srgbClr val="6B7280"/>
                </a:solidFill>
                <a:latin typeface="Aptos"/>
                <a:ea typeface="Aptos"/>
                <a:cs typeface="Aptos"/>
              </a:rPr>
              <a:t>и</a:t>
            </a:r>
            <a:r>
              <a:rPr sz="938" b="0" dirty="0">
                <a:solidFill>
                  <a:srgbClr val="6B7280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B7280"/>
                </a:solidFill>
                <a:latin typeface="Aptos"/>
                <a:ea typeface="Aptos"/>
                <a:cs typeface="Aptos"/>
              </a:rPr>
              <a:t>русскую</a:t>
            </a:r>
            <a:r>
              <a:rPr sz="938" b="0" dirty="0">
                <a:solidFill>
                  <a:srgbClr val="6B7280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B7280"/>
                </a:solidFill>
                <a:latin typeface="Aptos"/>
                <a:ea typeface="Aptos"/>
                <a:cs typeface="Aptos"/>
              </a:rPr>
              <a:t>морфологию</a:t>
            </a:r>
            <a:endParaRPr sz="938" b="0" dirty="0">
              <a:solidFill>
                <a:srgbClr val="6B728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B3927136-17CF-494F-9137-60BBE2EF6929}"/>
              </a:ext>
            </a:extLst>
          </p:cNvPr>
          <p:cNvSpPr>
            <a:spLocks noGrp="1"/>
          </p:cNvSpPr>
          <p:nvPr/>
        </p:nvSpPr>
        <p:spPr>
          <a:xfrm>
            <a:off x="9372600" y="4000500"/>
            <a:ext cx="990600" cy="228600"/>
          </a:xfrm>
          <a:prstGeom prst="rect">
            <a:avLst/>
          </a:prstGeom>
          <a:solidFill>
            <a:srgbClr val="CCFBF1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E3180757-36F0-4346-9C1D-03781A0B4508}"/>
              </a:ext>
            </a:extLst>
          </p:cNvPr>
          <p:cNvSpPr>
            <a:spLocks noGrp="1"/>
          </p:cNvSpPr>
          <p:nvPr/>
        </p:nvSpPr>
        <p:spPr>
          <a:xfrm>
            <a:off x="9486900" y="4067175"/>
            <a:ext cx="762000" cy="85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8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analyzer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847857C8-A1D4-48A4-9E59-6CA767D24049}"/>
              </a:ext>
            </a:extLst>
          </p:cNvPr>
          <p:cNvSpPr>
            <a:spLocks noGrp="1"/>
          </p:cNvSpPr>
          <p:nvPr/>
        </p:nvSpPr>
        <p:spPr>
          <a:xfrm>
            <a:off x="9867900" y="4333875"/>
            <a:ext cx="0" cy="19050"/>
          </a:xfrm>
          <a:prstGeom prst="rect">
            <a:avLst/>
          </a:prstGeom>
          <a:solidFill>
            <a:srgbClr val="D8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4F70248F-9D2E-4F19-965B-445575A762FF}"/>
              </a:ext>
            </a:extLst>
          </p:cNvPr>
          <p:cNvSpPr>
            <a:spLocks noGrp="1"/>
          </p:cNvSpPr>
          <p:nvPr/>
        </p:nvSpPr>
        <p:spPr>
          <a:xfrm>
            <a:off x="9858375" y="4343400"/>
            <a:ext cx="19050" cy="266700"/>
          </a:xfrm>
          <a:prstGeom prst="rect">
            <a:avLst/>
          </a:prstGeom>
          <a:solidFill>
            <a:srgbClr val="D8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6F4CD437-B226-42B6-931B-71302B517092}"/>
              </a:ext>
            </a:extLst>
          </p:cNvPr>
          <p:cNvSpPr>
            <a:spLocks noGrp="1"/>
          </p:cNvSpPr>
          <p:nvPr/>
        </p:nvSpPr>
        <p:spPr>
          <a:xfrm>
            <a:off x="9867900" y="4600575"/>
            <a:ext cx="0" cy="19050"/>
          </a:xfrm>
          <a:prstGeom prst="rect">
            <a:avLst/>
          </a:prstGeom>
          <a:solidFill>
            <a:srgbClr val="D8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B12BFE73-9C69-4EF3-AB08-0EF0F14ABE66}"/>
              </a:ext>
            </a:extLst>
          </p:cNvPr>
          <p:cNvSpPr>
            <a:spLocks noGrp="1"/>
          </p:cNvSpPr>
          <p:nvPr/>
        </p:nvSpPr>
        <p:spPr>
          <a:xfrm>
            <a:off x="9801225" y="4562475"/>
            <a:ext cx="66675" cy="95250"/>
          </a:xfrm>
          <a:prstGeom prst="rect">
            <a:avLst/>
          </a:prstGeom>
          <a:solidFill>
            <a:srgbClr val="D8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27A58D4B-3838-4E74-96C2-793164797128}"/>
              </a:ext>
            </a:extLst>
          </p:cNvPr>
          <p:cNvSpPr>
            <a:spLocks noGrp="1"/>
          </p:cNvSpPr>
          <p:nvPr/>
        </p:nvSpPr>
        <p:spPr>
          <a:xfrm>
            <a:off x="800100" y="4610100"/>
            <a:ext cx="1524000" cy="457200"/>
          </a:xfrm>
          <a:prstGeom prst="rect">
            <a:avLst/>
          </a:prstGeom>
          <a:solidFill>
            <a:srgbClr val="FEF3C7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FBD444EF-C4F1-43E6-90ED-CF9ABF0CEFC7}"/>
              </a:ext>
            </a:extLst>
          </p:cNvPr>
          <p:cNvSpPr>
            <a:spLocks noGrp="1"/>
          </p:cNvSpPr>
          <p:nvPr/>
        </p:nvSpPr>
        <p:spPr>
          <a:xfrm>
            <a:off x="895350" y="4686300"/>
            <a:ext cx="1333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92400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2400E"/>
                </a:solidFill>
                <a:latin typeface="Aptos"/>
                <a:ea typeface="Aptos"/>
                <a:cs typeface="Aptos"/>
              </a:rPr>
              <a:t>побег</a:t>
            </a: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F39D80B1-BBA4-4B83-A481-1B695C7F1D18}"/>
              </a:ext>
            </a:extLst>
          </p:cNvPr>
          <p:cNvSpPr>
            <a:spLocks noGrp="1"/>
          </p:cNvSpPr>
          <p:nvPr/>
        </p:nvSpPr>
        <p:spPr>
          <a:xfrm>
            <a:off x="2324100" y="4610100"/>
            <a:ext cx="23812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947B017A-C4F2-4579-8C96-6460C3FC0A53}"/>
              </a:ext>
            </a:extLst>
          </p:cNvPr>
          <p:cNvSpPr>
            <a:spLocks noGrp="1"/>
          </p:cNvSpPr>
          <p:nvPr/>
        </p:nvSpPr>
        <p:spPr>
          <a:xfrm>
            <a:off x="2419350" y="4686300"/>
            <a:ext cx="2190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часть названия</a:t>
            </a: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B414EA8A-1FA0-407D-A71E-552EBE5795DD}"/>
              </a:ext>
            </a:extLst>
          </p:cNvPr>
          <p:cNvSpPr>
            <a:spLocks noGrp="1"/>
          </p:cNvSpPr>
          <p:nvPr/>
        </p:nvSpPr>
        <p:spPr>
          <a:xfrm>
            <a:off x="4705350" y="4610100"/>
            <a:ext cx="4191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F2913639-D243-4752-9FB8-AB8520B85AFB}"/>
              </a:ext>
            </a:extLst>
          </p:cNvPr>
          <p:cNvSpPr>
            <a:spLocks noGrp="1"/>
          </p:cNvSpPr>
          <p:nvPr/>
        </p:nvSpPr>
        <p:spPr>
          <a:xfrm>
            <a:off x="4800600" y="4686300"/>
            <a:ext cx="4000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38" b="0" dirty="0" err="1">
                <a:solidFill>
                  <a:srgbClr val="6B7280"/>
                </a:solidFill>
                <a:latin typeface="Aptos"/>
                <a:ea typeface="Aptos"/>
                <a:cs typeface="Aptos"/>
              </a:rPr>
              <a:t>сравнить</a:t>
            </a:r>
            <a:r>
              <a:rPr sz="938" b="0" dirty="0">
                <a:solidFill>
                  <a:srgbClr val="6B7280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B7280"/>
                </a:solidFill>
                <a:latin typeface="Aptos"/>
                <a:ea typeface="Aptos"/>
                <a:cs typeface="Aptos"/>
              </a:rPr>
              <a:t>простое</a:t>
            </a:r>
            <a:r>
              <a:rPr sz="938" b="0" dirty="0">
                <a:solidFill>
                  <a:srgbClr val="6B7280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B7280"/>
                </a:solidFill>
                <a:latin typeface="Aptos"/>
                <a:ea typeface="Aptos"/>
                <a:cs typeface="Aptos"/>
              </a:rPr>
              <a:t>совпадение</a:t>
            </a:r>
            <a:r>
              <a:rPr sz="938" b="0" dirty="0">
                <a:solidFill>
                  <a:srgbClr val="6B7280"/>
                </a:solidFill>
                <a:latin typeface="Aptos"/>
                <a:ea typeface="Aptos"/>
                <a:cs typeface="Aptos"/>
              </a:rPr>
              <a:t> </a:t>
            </a:r>
            <a:r>
              <a:rPr sz="938" b="0" dirty="0" err="1">
                <a:solidFill>
                  <a:srgbClr val="6B7280"/>
                </a:solidFill>
                <a:latin typeface="Aptos"/>
                <a:ea typeface="Aptos"/>
                <a:cs typeface="Aptos"/>
              </a:rPr>
              <a:t>и</a:t>
            </a:r>
            <a:r>
              <a:rPr sz="938" b="0" dirty="0">
                <a:solidFill>
                  <a:srgbClr val="6B7280"/>
                </a:solidFill>
                <a:latin typeface="Aptos"/>
                <a:ea typeface="Aptos"/>
                <a:cs typeface="Aptos"/>
              </a:rPr>
              <a:t> relevance</a:t>
            </a: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64343D14-5CCA-4C60-90C0-4509805BEF32}"/>
              </a:ext>
            </a:extLst>
          </p:cNvPr>
          <p:cNvSpPr>
            <a:spLocks noGrp="1"/>
          </p:cNvSpPr>
          <p:nvPr/>
        </p:nvSpPr>
        <p:spPr>
          <a:xfrm>
            <a:off x="9372600" y="4724400"/>
            <a:ext cx="990600" cy="228600"/>
          </a:xfrm>
          <a:prstGeom prst="rect">
            <a:avLst/>
          </a:prstGeom>
          <a:solidFill>
            <a:srgbClr val="CCFBF1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469884E0-50ED-45C3-AAB5-401E2BDCE00E}"/>
              </a:ext>
            </a:extLst>
          </p:cNvPr>
          <p:cNvSpPr>
            <a:spLocks noGrp="1"/>
          </p:cNvSpPr>
          <p:nvPr/>
        </p:nvSpPr>
        <p:spPr>
          <a:xfrm>
            <a:off x="9486900" y="4791075"/>
            <a:ext cx="762000" cy="85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8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analyzer</a:t>
            </a:r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C8303CE7-D585-487B-8855-B49F5358B3AE}"/>
              </a:ext>
            </a:extLst>
          </p:cNvPr>
          <p:cNvSpPr>
            <a:spLocks noGrp="1"/>
          </p:cNvSpPr>
          <p:nvPr/>
        </p:nvSpPr>
        <p:spPr>
          <a:xfrm>
            <a:off x="800100" y="5619750"/>
            <a:ext cx="9563100" cy="40005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BBB9442A-4070-4FF5-A8C2-907ED8833238}"/>
              </a:ext>
            </a:extLst>
          </p:cNvPr>
          <p:cNvSpPr>
            <a:spLocks noGrp="1"/>
          </p:cNvSpPr>
          <p:nvPr/>
        </p:nvSpPr>
        <p:spPr>
          <a:xfrm>
            <a:off x="1047750" y="5743575"/>
            <a:ext cx="90678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38" b="0">
                <a:solidFill>
                  <a:srgbClr val="F9FAF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9FAFB"/>
                </a:solidFill>
                <a:latin typeface="Aptos"/>
                <a:ea typeface="Aptos"/>
                <a:cs typeface="Aptos"/>
              </a:rPr>
              <a:t>Сценарий речи: сначала открыть simple-путь как baseline, затем переключить объяснение на ES и показать, что отличие лежит в analyzer + scoring.</a:t>
            </a:r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42386FF4-307D-486C-B038-D73961DD103D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081A1152-584E-4EA2-AFF8-89E58636D594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9144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8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58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Источник: локальный репозиторий MovieSearch</a:t>
            </a:r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F67385F2-57EE-4C1F-A638-7E557AF70189}"/>
              </a:ext>
            </a:extLst>
          </p:cNvPr>
          <p:cNvSpPr>
            <a:spLocks noGrp="1"/>
          </p:cNvSpPr>
          <p:nvPr/>
        </p:nvSpPr>
        <p:spPr>
          <a:xfrm>
            <a:off x="11201400" y="65151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B7280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B7280"/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35388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7D7AB58D-6482-4BB3-831F-DDCCEA79A8C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3-marker">
            <a:extLst>
              <a:ext uri="{FF2B5EF4-FFF2-40B4-BE49-F238E27FC236}">
                <a16:creationId xmlns:a16="http://schemas.microsoft.com/office/drawing/2014/main" id="{CE3F0254-8640-4A23-9E35-A5C2BA8E2FA7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95250" cy="952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3-label">
            <a:extLst>
              <a:ext uri="{FF2B5EF4-FFF2-40B4-BE49-F238E27FC236}">
                <a16:creationId xmlns:a16="http://schemas.microsoft.com/office/drawing/2014/main" id="{5EFFAB1B-347F-4DA9-B79C-75197C1F2B41}"/>
              </a:ext>
            </a:extLst>
          </p:cNvPr>
          <p:cNvSpPr>
            <a:spLocks noGrp="1"/>
          </p:cNvSpPr>
          <p:nvPr/>
        </p:nvSpPr>
        <p:spPr>
          <a:xfrm>
            <a:off x="762000" y="4191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DECISION RULE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A6F5D68-766C-4BE5-8877-5A20B8DB32CE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828675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Решение принимается по ожиданиям пользователя, а не по модности стека.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6278FFE-3912-4C39-99B5-EB2A371D3EB3}"/>
              </a:ext>
            </a:extLst>
          </p:cNvPr>
          <p:cNvSpPr>
            <a:spLocks noGrp="1"/>
          </p:cNvSpPr>
          <p:nvPr/>
        </p:nvSpPr>
        <p:spPr>
          <a:xfrm>
            <a:off x="571500" y="1638300"/>
            <a:ext cx="781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Если поиск — вторичная админская функция, LIKE может быть идеален. Если поиск — основной способ найти ценность в продукте, нужен поисковый слой.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91D9147-40B5-4221-9BD9-FACA3BEA28E1}"/>
              </a:ext>
            </a:extLst>
          </p:cNvPr>
          <p:cNvSpPr>
            <a:spLocks noGrp="1"/>
          </p:cNvSpPr>
          <p:nvPr/>
        </p:nvSpPr>
        <p:spPr>
          <a:xfrm>
            <a:off x="1009650" y="2743200"/>
            <a:ext cx="1581150" cy="2095500"/>
          </a:xfrm>
          <a:prstGeom prst="rect">
            <a:avLst/>
          </a:prstGeom>
          <a:solidFill>
            <a:srgbClr val="DBEAFE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26796ED-F283-4EE1-8200-08BEF9C4C5F7}"/>
              </a:ext>
            </a:extLst>
          </p:cNvPr>
          <p:cNvSpPr>
            <a:spLocks noGrp="1"/>
          </p:cNvSpPr>
          <p:nvPr/>
        </p:nvSpPr>
        <p:spPr>
          <a:xfrm>
            <a:off x="1181100" y="2971800"/>
            <a:ext cx="304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C6FA257-5DB5-479A-8867-6D4FD149F5C8}"/>
              </a:ext>
            </a:extLst>
          </p:cNvPr>
          <p:cNvSpPr>
            <a:spLocks noGrp="1"/>
          </p:cNvSpPr>
          <p:nvPr/>
        </p:nvSpPr>
        <p:spPr>
          <a:xfrm>
            <a:off x="1181100" y="3467100"/>
            <a:ext cx="1238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Точное поле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0C7357F-8AB2-48E5-93C9-FC052E5E9D68}"/>
              </a:ext>
            </a:extLst>
          </p:cNvPr>
          <p:cNvSpPr>
            <a:spLocks noGrp="1"/>
          </p:cNvSpPr>
          <p:nvPr/>
        </p:nvSpPr>
        <p:spPr>
          <a:xfrm>
            <a:off x="1181100" y="3848100"/>
            <a:ext cx="12001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id, статус, категория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A6CDBD4-4A31-4D24-A629-067363AB84B7}"/>
              </a:ext>
            </a:extLst>
          </p:cNvPr>
          <p:cNvSpPr>
            <a:spLocks noGrp="1"/>
          </p:cNvSpPr>
          <p:nvPr/>
        </p:nvSpPr>
        <p:spPr>
          <a:xfrm>
            <a:off x="3009900" y="2552700"/>
            <a:ext cx="1581150" cy="2286000"/>
          </a:xfrm>
          <a:prstGeom prst="rect">
            <a:avLst/>
          </a:prstGeom>
          <a:solidFill>
            <a:srgbClr val="E0F2FE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9607143-355E-4D56-B633-6C0CB23CD6EC}"/>
              </a:ext>
            </a:extLst>
          </p:cNvPr>
          <p:cNvSpPr>
            <a:spLocks noGrp="1"/>
          </p:cNvSpPr>
          <p:nvPr/>
        </p:nvSpPr>
        <p:spPr>
          <a:xfrm>
            <a:off x="3181350" y="2781300"/>
            <a:ext cx="304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0369A1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369A1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1989547-B327-4625-9887-3FAF67365B10}"/>
              </a:ext>
            </a:extLst>
          </p:cNvPr>
          <p:cNvSpPr>
            <a:spLocks noGrp="1"/>
          </p:cNvSpPr>
          <p:nvPr/>
        </p:nvSpPr>
        <p:spPr>
          <a:xfrm>
            <a:off x="3181350" y="3276600"/>
            <a:ext cx="1238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Подстрока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218CC01-431C-490C-8341-785884EDCA23}"/>
              </a:ext>
            </a:extLst>
          </p:cNvPr>
          <p:cNvSpPr>
            <a:spLocks noGrp="1"/>
          </p:cNvSpPr>
          <p:nvPr/>
        </p:nvSpPr>
        <p:spPr>
          <a:xfrm>
            <a:off x="3181350" y="3657600"/>
            <a:ext cx="12001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простая форма поиска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7275BF8-D8ED-4908-BA2F-964812649426}"/>
              </a:ext>
            </a:extLst>
          </p:cNvPr>
          <p:cNvSpPr>
            <a:spLocks noGrp="1"/>
          </p:cNvSpPr>
          <p:nvPr/>
        </p:nvSpPr>
        <p:spPr>
          <a:xfrm>
            <a:off x="5010150" y="2362200"/>
            <a:ext cx="1581150" cy="2476500"/>
          </a:xfrm>
          <a:prstGeom prst="rect">
            <a:avLst/>
          </a:prstGeom>
          <a:solidFill>
            <a:srgbClr val="CCFBF1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9810C57-4D17-4B27-9496-62D32E7B7169}"/>
              </a:ext>
            </a:extLst>
          </p:cNvPr>
          <p:cNvSpPr>
            <a:spLocks noGrp="1"/>
          </p:cNvSpPr>
          <p:nvPr/>
        </p:nvSpPr>
        <p:spPr>
          <a:xfrm>
            <a:off x="5181600" y="2590800"/>
            <a:ext cx="304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17E85D9-2294-4506-8040-47DA6EEFD5ED}"/>
              </a:ext>
            </a:extLst>
          </p:cNvPr>
          <p:cNvSpPr>
            <a:spLocks noGrp="1"/>
          </p:cNvSpPr>
          <p:nvPr/>
        </p:nvSpPr>
        <p:spPr>
          <a:xfrm>
            <a:off x="5181600" y="3086100"/>
            <a:ext cx="1238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Язык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60CB697-3D4E-4F24-B932-0291A30D83EC}"/>
              </a:ext>
            </a:extLst>
          </p:cNvPr>
          <p:cNvSpPr>
            <a:spLocks noGrp="1"/>
          </p:cNvSpPr>
          <p:nvPr/>
        </p:nvSpPr>
        <p:spPr>
          <a:xfrm>
            <a:off x="5181600" y="3467100"/>
            <a:ext cx="12001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морфология, опечатки, формы слов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637764C-696B-4BC3-9332-C16E5E4FACA4}"/>
              </a:ext>
            </a:extLst>
          </p:cNvPr>
          <p:cNvSpPr>
            <a:spLocks noGrp="1"/>
          </p:cNvSpPr>
          <p:nvPr/>
        </p:nvSpPr>
        <p:spPr>
          <a:xfrm>
            <a:off x="7010400" y="2171700"/>
            <a:ext cx="1581150" cy="2667000"/>
          </a:xfrm>
          <a:prstGeom prst="rect">
            <a:avLst/>
          </a:prstGeom>
          <a:solidFill>
            <a:srgbClr val="FEF3C7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28B7AF6B-E703-410C-8490-74588C55D344}"/>
              </a:ext>
            </a:extLst>
          </p:cNvPr>
          <p:cNvSpPr>
            <a:spLocks noGrp="1"/>
          </p:cNvSpPr>
          <p:nvPr/>
        </p:nvSpPr>
        <p:spPr>
          <a:xfrm>
            <a:off x="7181850" y="2400300"/>
            <a:ext cx="304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92400E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92400E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BDF612F9-F592-443B-B10E-9C943FADFAAB}"/>
              </a:ext>
            </a:extLst>
          </p:cNvPr>
          <p:cNvSpPr>
            <a:spLocks noGrp="1"/>
          </p:cNvSpPr>
          <p:nvPr/>
        </p:nvSpPr>
        <p:spPr>
          <a:xfrm>
            <a:off x="7181850" y="2895600"/>
            <a:ext cx="1238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Релевантность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673A99C-5203-4F46-A8C1-515C79DD3C2D}"/>
              </a:ext>
            </a:extLst>
          </p:cNvPr>
          <p:cNvSpPr>
            <a:spLocks noGrp="1"/>
          </p:cNvSpPr>
          <p:nvPr/>
        </p:nvSpPr>
        <p:spPr>
          <a:xfrm>
            <a:off x="7181850" y="3276600"/>
            <a:ext cx="12001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веса полей, фразы, персонализация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98AC307B-ABCE-4DE5-AB3D-177BAB596417}"/>
              </a:ext>
            </a:extLst>
          </p:cNvPr>
          <p:cNvSpPr>
            <a:spLocks noGrp="1"/>
          </p:cNvSpPr>
          <p:nvPr/>
        </p:nvSpPr>
        <p:spPr>
          <a:xfrm>
            <a:off x="9010650" y="1981200"/>
            <a:ext cx="1581150" cy="2857500"/>
          </a:xfrm>
          <a:prstGeom prst="rect">
            <a:avLst/>
          </a:prstGeom>
          <a:solidFill>
            <a:srgbClr val="FEE2E2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F2B5B9D9-4F27-4F7C-A74D-048309764DCD}"/>
              </a:ext>
            </a:extLst>
          </p:cNvPr>
          <p:cNvSpPr>
            <a:spLocks noGrp="1"/>
          </p:cNvSpPr>
          <p:nvPr/>
        </p:nvSpPr>
        <p:spPr>
          <a:xfrm>
            <a:off x="9182100" y="2209800"/>
            <a:ext cx="304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B91C1C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B91C1C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E7E5354B-C704-449E-9E74-B21FEC658302}"/>
              </a:ext>
            </a:extLst>
          </p:cNvPr>
          <p:cNvSpPr>
            <a:spLocks noGrp="1"/>
          </p:cNvSpPr>
          <p:nvPr/>
        </p:nvSpPr>
        <p:spPr>
          <a:xfrm>
            <a:off x="9182100" y="2705100"/>
            <a:ext cx="1238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Масштаб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E472CFD8-43AC-48EB-8E3F-4027724700F2}"/>
              </a:ext>
            </a:extLst>
          </p:cNvPr>
          <p:cNvSpPr>
            <a:spLocks noGrp="1"/>
          </p:cNvSpPr>
          <p:nvPr/>
        </p:nvSpPr>
        <p:spPr>
          <a:xfrm>
            <a:off x="9182100" y="3086100"/>
            <a:ext cx="12001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нагрузка, индекс, наблюдаемость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4DAB9959-2969-4ED2-B30C-7CF14BD2CA6C}"/>
              </a:ext>
            </a:extLst>
          </p:cNvPr>
          <p:cNvSpPr>
            <a:spLocks noGrp="1"/>
          </p:cNvSpPr>
          <p:nvPr/>
        </p:nvSpPr>
        <p:spPr>
          <a:xfrm>
            <a:off x="1333500" y="5486400"/>
            <a:ext cx="18097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FEA28EED-101F-48B7-9885-BD281E906DD1}"/>
              </a:ext>
            </a:extLst>
          </p:cNvPr>
          <p:cNvSpPr>
            <a:spLocks noGrp="1"/>
          </p:cNvSpPr>
          <p:nvPr/>
        </p:nvSpPr>
        <p:spPr>
          <a:xfrm>
            <a:off x="1333500" y="5486400"/>
            <a:ext cx="180975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A365CD0C-354F-432E-A102-C1D163F6DBCB}"/>
              </a:ext>
            </a:extLst>
          </p:cNvPr>
          <p:cNvSpPr>
            <a:spLocks noGrp="1"/>
          </p:cNvSpPr>
          <p:nvPr/>
        </p:nvSpPr>
        <p:spPr>
          <a:xfrm>
            <a:off x="1485900" y="5619750"/>
            <a:ext cx="1504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Берите SQL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E9A41363-9DE1-44DF-AA25-335F7DFD1CCB}"/>
              </a:ext>
            </a:extLst>
          </p:cNvPr>
          <p:cNvSpPr>
            <a:spLocks noGrp="1"/>
          </p:cNvSpPr>
          <p:nvPr/>
        </p:nvSpPr>
        <p:spPr>
          <a:xfrm>
            <a:off x="7867650" y="5486400"/>
            <a:ext cx="21907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B3E01A17-A1B8-4CB8-8E82-E7ADAA6A039D}"/>
              </a:ext>
            </a:extLst>
          </p:cNvPr>
          <p:cNvSpPr>
            <a:spLocks noGrp="1"/>
          </p:cNvSpPr>
          <p:nvPr/>
        </p:nvSpPr>
        <p:spPr>
          <a:xfrm>
            <a:off x="7867650" y="5486400"/>
            <a:ext cx="2190750" cy="4762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E0FF4906-57F0-4C24-BD99-841FF165F15C}"/>
              </a:ext>
            </a:extLst>
          </p:cNvPr>
          <p:cNvSpPr>
            <a:spLocks noGrp="1"/>
          </p:cNvSpPr>
          <p:nvPr/>
        </p:nvSpPr>
        <p:spPr>
          <a:xfrm>
            <a:off x="8020050" y="5619750"/>
            <a:ext cx="1885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Берите Elasticsearch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AF312E2A-CC80-40C4-8B35-66F2393DAF08}"/>
              </a:ext>
            </a:extLst>
          </p:cNvPr>
          <p:cNvSpPr>
            <a:spLocks noGrp="1"/>
          </p:cNvSpPr>
          <p:nvPr/>
        </p:nvSpPr>
        <p:spPr>
          <a:xfrm>
            <a:off x="3143250" y="5724525"/>
            <a:ext cx="4724400" cy="190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528D6057-098C-41F2-A2B5-D9F7D584645C}"/>
              </a:ext>
            </a:extLst>
          </p:cNvPr>
          <p:cNvSpPr>
            <a:spLocks noGrp="1"/>
          </p:cNvSpPr>
          <p:nvPr/>
        </p:nvSpPr>
        <p:spPr>
          <a:xfrm>
            <a:off x="7800975" y="5686425"/>
            <a:ext cx="66675" cy="95250"/>
          </a:xfrm>
          <a:prstGeom prst="rect">
            <a:avLst/>
          </a:prstGeom>
          <a:solidFill>
            <a:srgbClr val="6B72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A963734F-D12E-43BC-8840-E81C89E0533F}"/>
              </a:ext>
            </a:extLst>
          </p:cNvPr>
          <p:cNvSpPr>
            <a:spLocks noGrp="1"/>
          </p:cNvSpPr>
          <p:nvPr/>
        </p:nvSpPr>
        <p:spPr>
          <a:xfrm>
            <a:off x="4019550" y="5295900"/>
            <a:ext cx="2990850" cy="361950"/>
          </a:xfrm>
          <a:prstGeom prst="rect">
            <a:avLst/>
          </a:prstGeom>
          <a:solidFill>
            <a:srgbClr val="F7F3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088B5343-2FD9-4ECA-95CC-732C7998B657}"/>
              </a:ext>
            </a:extLst>
          </p:cNvPr>
          <p:cNvSpPr>
            <a:spLocks noGrp="1"/>
          </p:cNvSpPr>
          <p:nvPr/>
        </p:nvSpPr>
        <p:spPr>
          <a:xfrm>
            <a:off x="4152900" y="5353050"/>
            <a:ext cx="2724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63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Порог перехода: “подстрока” -&gt; “язык + релевантность”.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A7D59063-CD74-4436-91A2-C715DC42CF36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E3667EAA-755A-4615-8C73-2E0A49484CF4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9144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8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58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Источник: локальный репозиторий MovieSearch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821E96ED-0FC5-4E48-AB10-6562B8F51DC1}"/>
              </a:ext>
            </a:extLst>
          </p:cNvPr>
          <p:cNvSpPr>
            <a:spLocks noGrp="1"/>
          </p:cNvSpPr>
          <p:nvPr/>
        </p:nvSpPr>
        <p:spPr>
          <a:xfrm>
            <a:off x="11201400" y="65151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B7280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B7280"/>
                </a:solidFill>
                <a:latin typeface="Aptos Display"/>
                <a:ea typeface="Aptos Display"/>
                <a:cs typeface="Aptos Display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81662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5DA45ED9-1135-4690-AC7C-49128E960A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4-marker">
            <a:extLst>
              <a:ext uri="{FF2B5EF4-FFF2-40B4-BE49-F238E27FC236}">
                <a16:creationId xmlns:a16="http://schemas.microsoft.com/office/drawing/2014/main" id="{CB5447BD-C29E-400D-A7DF-DF72FD452A5C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95250" cy="952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4-label">
            <a:extLst>
              <a:ext uri="{FF2B5EF4-FFF2-40B4-BE49-F238E27FC236}">
                <a16:creationId xmlns:a16="http://schemas.microsoft.com/office/drawing/2014/main" id="{8230CEC5-1A78-45AC-89AE-A887EF8349DF}"/>
              </a:ext>
            </a:extLst>
          </p:cNvPr>
          <p:cNvSpPr>
            <a:spLocks noGrp="1"/>
          </p:cNvSpPr>
          <p:nvPr/>
        </p:nvSpPr>
        <p:spPr>
          <a:xfrm>
            <a:off x="762000" y="419100"/>
            <a:ext cx="495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CBD5E1"/>
                </a:solidFill>
                <a:latin typeface="Aptos"/>
                <a:ea typeface="Aptos"/>
                <a:cs typeface="Aptos"/>
              </a:rPr>
              <a:t>ИТОГ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4AA912B-ECCB-4E16-9420-E9E578942FCC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83820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Elasticsearch нужен рядом с базой, а не вместо неё.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E46C4D8-0FED-4B9A-A223-8B35DFDC6275}"/>
              </a:ext>
            </a:extLst>
          </p:cNvPr>
          <p:cNvSpPr>
            <a:spLocks noGrp="1"/>
          </p:cNvSpPr>
          <p:nvPr/>
        </p:nvSpPr>
        <p:spPr>
          <a:xfrm>
            <a:off x="571500" y="2000250"/>
            <a:ext cx="7524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PostgreSQL отвечает за транзакционную правду. Elasticsearch отвечает за то, как человек формулирует и уточняет запрос.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38420EA-A0B5-4C7D-B70B-E62AD582BDD4}"/>
              </a:ext>
            </a:extLst>
          </p:cNvPr>
          <p:cNvSpPr>
            <a:spLocks noGrp="1"/>
          </p:cNvSpPr>
          <p:nvPr/>
        </p:nvSpPr>
        <p:spPr>
          <a:xfrm>
            <a:off x="1276350" y="3009900"/>
            <a:ext cx="2095500" cy="781050"/>
          </a:xfrm>
          <a:prstGeom prst="rect">
            <a:avLst/>
          </a:prstGeom>
          <a:solidFill>
            <a:srgbClr val="F9FAFB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4449C3F-7A5B-49D1-A414-F2C21FF211FD}"/>
              </a:ext>
            </a:extLst>
          </p:cNvPr>
          <p:cNvSpPr>
            <a:spLocks noGrp="1"/>
          </p:cNvSpPr>
          <p:nvPr/>
        </p:nvSpPr>
        <p:spPr>
          <a:xfrm>
            <a:off x="1276350" y="3009900"/>
            <a:ext cx="2095500" cy="47625"/>
          </a:xfrm>
          <a:prstGeom prst="rect">
            <a:avLst/>
          </a:prstGeom>
          <a:solidFill>
            <a:srgbClr val="1580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08718C7-B1D9-4DD2-B501-77C1CC035F4C}"/>
              </a:ext>
            </a:extLst>
          </p:cNvPr>
          <p:cNvSpPr>
            <a:spLocks noGrp="1"/>
          </p:cNvSpPr>
          <p:nvPr/>
        </p:nvSpPr>
        <p:spPr>
          <a:xfrm>
            <a:off x="1428750" y="3143250"/>
            <a:ext cx="17907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PostgreSQL</a:t>
            </a:r>
          </a:p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source of truth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D20DE25-6A0D-49DC-B79E-E3C2D128D640}"/>
              </a:ext>
            </a:extLst>
          </p:cNvPr>
          <p:cNvSpPr>
            <a:spLocks noGrp="1"/>
          </p:cNvSpPr>
          <p:nvPr/>
        </p:nvSpPr>
        <p:spPr>
          <a:xfrm>
            <a:off x="4953000" y="3009900"/>
            <a:ext cx="2095500" cy="781050"/>
          </a:xfrm>
          <a:prstGeom prst="rect">
            <a:avLst/>
          </a:prstGeom>
          <a:solidFill>
            <a:srgbClr val="F9FAFB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833762D-1C78-48E7-A52E-A92EC84C5DFD}"/>
              </a:ext>
            </a:extLst>
          </p:cNvPr>
          <p:cNvSpPr>
            <a:spLocks noGrp="1"/>
          </p:cNvSpPr>
          <p:nvPr/>
        </p:nvSpPr>
        <p:spPr>
          <a:xfrm>
            <a:off x="4953000" y="3009900"/>
            <a:ext cx="2095500" cy="4762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855E1E1-3411-49BD-9E69-818AE379406D}"/>
              </a:ext>
            </a:extLst>
          </p:cNvPr>
          <p:cNvSpPr>
            <a:spLocks noGrp="1"/>
          </p:cNvSpPr>
          <p:nvPr/>
        </p:nvSpPr>
        <p:spPr>
          <a:xfrm>
            <a:off x="5105400" y="3143250"/>
            <a:ext cx="17907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Application</a:t>
            </a:r>
          </a:p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business logic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196CD61-C3DE-4B63-8D1A-50D2AEF937CD}"/>
              </a:ext>
            </a:extLst>
          </p:cNvPr>
          <p:cNvSpPr>
            <a:spLocks noGrp="1"/>
          </p:cNvSpPr>
          <p:nvPr/>
        </p:nvSpPr>
        <p:spPr>
          <a:xfrm>
            <a:off x="8629650" y="3009900"/>
            <a:ext cx="2095500" cy="781050"/>
          </a:xfrm>
          <a:prstGeom prst="rect">
            <a:avLst/>
          </a:prstGeom>
          <a:solidFill>
            <a:srgbClr val="F9FAFB"/>
          </a:solidFill>
          <a:ln w="9525">
            <a:solidFill>
              <a:srgbClr val="D8D1C5"/>
            </a:solidFill>
            <a:prstDash val="solid"/>
          </a:ln>
        </p:spPr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4E288C6-BDCE-4102-95A4-5A3F3A05BAC4}"/>
              </a:ext>
            </a:extLst>
          </p:cNvPr>
          <p:cNvSpPr>
            <a:spLocks noGrp="1"/>
          </p:cNvSpPr>
          <p:nvPr/>
        </p:nvSpPr>
        <p:spPr>
          <a:xfrm>
            <a:off x="8629650" y="3009900"/>
            <a:ext cx="2095500" cy="47625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ABFF294-1555-4AC7-B908-75294FD48583}"/>
              </a:ext>
            </a:extLst>
          </p:cNvPr>
          <p:cNvSpPr>
            <a:spLocks noGrp="1"/>
          </p:cNvSpPr>
          <p:nvPr/>
        </p:nvSpPr>
        <p:spPr>
          <a:xfrm>
            <a:off x="8782050" y="3143250"/>
            <a:ext cx="17907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Elasticsearch</a:t>
            </a:r>
          </a:p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search brain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F38EE9E-6FF3-4620-9630-51DEF751E170}"/>
              </a:ext>
            </a:extLst>
          </p:cNvPr>
          <p:cNvSpPr>
            <a:spLocks noGrp="1"/>
          </p:cNvSpPr>
          <p:nvPr/>
        </p:nvSpPr>
        <p:spPr>
          <a:xfrm>
            <a:off x="3371850" y="3390900"/>
            <a:ext cx="1581150" cy="19050"/>
          </a:xfrm>
          <a:prstGeom prst="rect">
            <a:avLst/>
          </a:prstGeom>
          <a:solidFill>
            <a:srgbClr val="94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453DCBC-6794-4885-88B6-121C8BC082C8}"/>
              </a:ext>
            </a:extLst>
          </p:cNvPr>
          <p:cNvSpPr>
            <a:spLocks noGrp="1"/>
          </p:cNvSpPr>
          <p:nvPr/>
        </p:nvSpPr>
        <p:spPr>
          <a:xfrm>
            <a:off x="4886325" y="3352800"/>
            <a:ext cx="66675" cy="95250"/>
          </a:xfrm>
          <a:prstGeom prst="rect">
            <a:avLst/>
          </a:prstGeom>
          <a:solidFill>
            <a:srgbClr val="94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EC32E7A-A334-4E73-A8DC-FEAC4C3C0559}"/>
              </a:ext>
            </a:extLst>
          </p:cNvPr>
          <p:cNvSpPr>
            <a:spLocks noGrp="1"/>
          </p:cNvSpPr>
          <p:nvPr/>
        </p:nvSpPr>
        <p:spPr>
          <a:xfrm>
            <a:off x="7048500" y="3390900"/>
            <a:ext cx="1581150" cy="19050"/>
          </a:xfrm>
          <a:prstGeom prst="rect">
            <a:avLst/>
          </a:prstGeom>
          <a:solidFill>
            <a:srgbClr val="94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477AA00-228E-4B16-AE80-A1D0C6F0E486}"/>
              </a:ext>
            </a:extLst>
          </p:cNvPr>
          <p:cNvSpPr>
            <a:spLocks noGrp="1"/>
          </p:cNvSpPr>
          <p:nvPr/>
        </p:nvSpPr>
        <p:spPr>
          <a:xfrm>
            <a:off x="8562975" y="3352800"/>
            <a:ext cx="66675" cy="95250"/>
          </a:xfrm>
          <a:prstGeom prst="rect">
            <a:avLst/>
          </a:prstGeom>
          <a:solidFill>
            <a:srgbClr val="94A3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8EB834F6-5FE6-4BF7-BB57-62DF7EE7F15C}"/>
              </a:ext>
            </a:extLst>
          </p:cNvPr>
          <p:cNvSpPr>
            <a:spLocks noGrp="1"/>
          </p:cNvSpPr>
          <p:nvPr/>
        </p:nvSpPr>
        <p:spPr>
          <a:xfrm>
            <a:off x="1409700" y="4762500"/>
            <a:ext cx="9334500" cy="1123950"/>
          </a:xfrm>
          <a:prstGeom prst="rect">
            <a:avLst/>
          </a:prstGeom>
          <a:solidFill>
            <a:srgbClr val="1F2937"/>
          </a:solidFill>
          <a:ln w="9525">
            <a:solidFill>
              <a:srgbClr val="374151"/>
            </a:solidFill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EAB9CFD-BD28-432C-9322-3790ED5EB51F}"/>
              </a:ext>
            </a:extLst>
          </p:cNvPr>
          <p:cNvSpPr>
            <a:spLocks noGrp="1"/>
          </p:cNvSpPr>
          <p:nvPr/>
        </p:nvSpPr>
        <p:spPr>
          <a:xfrm>
            <a:off x="1714500" y="5019675"/>
            <a:ext cx="57150" cy="571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AF08605B-CA44-4F93-AF38-FD443BBB1EAF}"/>
              </a:ext>
            </a:extLst>
          </p:cNvPr>
          <p:cNvSpPr>
            <a:spLocks noGrp="1"/>
          </p:cNvSpPr>
          <p:nvPr/>
        </p:nvSpPr>
        <p:spPr>
          <a:xfrm>
            <a:off x="1885950" y="4953000"/>
            <a:ext cx="7924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Обычный поиск отвечает: “есть ли совпадение в строке?”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029B13CE-0CC2-4C59-B5A6-547E6DDB7C17}"/>
              </a:ext>
            </a:extLst>
          </p:cNvPr>
          <p:cNvSpPr>
            <a:spLocks noGrp="1"/>
          </p:cNvSpPr>
          <p:nvPr/>
        </p:nvSpPr>
        <p:spPr>
          <a:xfrm>
            <a:off x="1714500" y="5305425"/>
            <a:ext cx="57150" cy="5715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5EDBD12B-9C13-4090-9CE9-6D1FD9346507}"/>
              </a:ext>
            </a:extLst>
          </p:cNvPr>
          <p:cNvSpPr>
            <a:spLocks noGrp="1"/>
          </p:cNvSpPr>
          <p:nvPr/>
        </p:nvSpPr>
        <p:spPr>
          <a:xfrm>
            <a:off x="1885950" y="5238750"/>
            <a:ext cx="7924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Elasticsearch отвечает: “какой документ лучше всего подходит к запросу?”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FDDE83C3-5AF1-4F72-810C-F25816F88896}"/>
              </a:ext>
            </a:extLst>
          </p:cNvPr>
          <p:cNvSpPr>
            <a:spLocks noGrp="1"/>
          </p:cNvSpPr>
          <p:nvPr/>
        </p:nvSpPr>
        <p:spPr>
          <a:xfrm>
            <a:off x="1714500" y="5591175"/>
            <a:ext cx="57150" cy="571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BD5E5AC3-9216-483C-8A21-94A740571D7D}"/>
              </a:ext>
            </a:extLst>
          </p:cNvPr>
          <p:cNvSpPr>
            <a:spLocks noGrp="1"/>
          </p:cNvSpPr>
          <p:nvPr/>
        </p:nvSpPr>
        <p:spPr>
          <a:xfrm>
            <a:off x="1885950" y="5524500"/>
            <a:ext cx="7924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Цена этой силы — индекс, синхронизация и эксплуатационная дисциплина.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8CA5C248-B77E-4A70-97F0-920CE5A5723B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11087100" cy="9525"/>
          </a:xfrm>
          <a:prstGeom prst="rect">
            <a:avLst/>
          </a:prstGeom>
          <a:solidFill>
            <a:srgbClr val="D8D1C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B7A24B45-E0D9-4996-9121-04C6A73217E0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9144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8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58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Финальная мысль для аудитории: выбирайте поисковую модель под ожидаемое поведение продукта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5DADB62B-895A-4B0A-ABBB-81A5924C457B}"/>
              </a:ext>
            </a:extLst>
          </p:cNvPr>
          <p:cNvSpPr>
            <a:spLocks noGrp="1"/>
          </p:cNvSpPr>
          <p:nvPr/>
        </p:nvSpPr>
        <p:spPr>
          <a:xfrm>
            <a:off x="11201400" y="6515100"/>
            <a:ext cx="45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B7280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B7280"/>
                </a:solidFill>
                <a:latin typeface="Aptos Display"/>
                <a:ea typeface="Aptos Display"/>
                <a:cs typeface="Aptos Display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542660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1484</Words>
  <Application>Microsoft Macintosh PowerPoint</Application>
  <DocSecurity>0</DocSecurity>
  <PresentationFormat>Широкоэкранный</PresentationFormat>
  <Paragraphs>275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Aptos Mono</vt:lpstr>
      <vt:lpstr>Calibri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Daniel</cp:lastModifiedBy>
  <cp:revision>1</cp:revision>
  <dcterms:created xsi:type="dcterms:W3CDTF">2026-05-11T14:01:12Z</dcterms:created>
  <dcterms:modified xsi:type="dcterms:W3CDTF">2026-05-11T14:07:03Z</dcterms:modified>
</cp:coreProperties>
</file>